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Open Sans" charset="1" panose="00000000000000000000"/>
      <p:regular r:id="rId28"/>
    </p:embeddedFont>
    <p:embeddedFont>
      <p:font typeface="Fira Code" charset="1" panose="020B0809050000020004"/>
      <p:regular r:id="rId29"/>
    </p:embeddedFont>
    <p:embeddedFont>
      <p:font typeface="Academy" charset="1" panose="00000000000000000000"/>
      <p:regular r:id="rId30"/>
    </p:embeddedFont>
    <p:embeddedFont>
      <p:font typeface="Fira Code Bold" charset="1" panose="020B0809050000020004"/>
      <p:regular r:id="rId31"/>
    </p:embeddedFont>
    <p:embeddedFont>
      <p:font typeface="Roboto" charset="1" panose="02000000000000000000"/>
      <p:regular r:id="rId32"/>
    </p:embeddedFont>
    <p:embeddedFont>
      <p:font typeface="Open Sans Bold" charset="1" panose="000000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1.jpeg" Type="http://schemas.openxmlformats.org/officeDocument/2006/relationships/image"/><Relationship Id="rId5" Target="../media/image3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3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svg" Type="http://schemas.openxmlformats.org/officeDocument/2006/relationships/image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41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4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43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3187" y="580634"/>
            <a:ext cx="17048788" cy="9390174"/>
          </a:xfrm>
          <a:custGeom>
            <a:avLst/>
            <a:gdLst/>
            <a:ahLst/>
            <a:cxnLst/>
            <a:rect r="r" b="b" t="t" l="l"/>
            <a:pathLst>
              <a:path h="9390174" w="17048788">
                <a:moveTo>
                  <a:pt x="0" y="0"/>
                </a:moveTo>
                <a:lnTo>
                  <a:pt x="17048788" y="0"/>
                </a:lnTo>
                <a:lnTo>
                  <a:pt x="17048788" y="9390174"/>
                </a:lnTo>
                <a:lnTo>
                  <a:pt x="0" y="9390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5229" y="749619"/>
            <a:ext cx="17057541" cy="9390174"/>
          </a:xfrm>
          <a:custGeom>
            <a:avLst/>
            <a:gdLst/>
            <a:ahLst/>
            <a:cxnLst/>
            <a:rect r="r" b="b" t="t" l="l"/>
            <a:pathLst>
              <a:path h="9390174" w="17057541">
                <a:moveTo>
                  <a:pt x="0" y="0"/>
                </a:moveTo>
                <a:lnTo>
                  <a:pt x="17057542" y="0"/>
                </a:lnTo>
                <a:lnTo>
                  <a:pt x="17057542" y="9390174"/>
                </a:lnTo>
                <a:lnTo>
                  <a:pt x="0" y="93901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35860" y="2409968"/>
            <a:ext cx="189338" cy="721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3"/>
              </a:lnSpc>
            </a:pPr>
            <a:r>
              <a:rPr lang="en-US" sz="25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1 0 0 1 0 1 0 1 0 1 0 1 0 1 0 0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940632" y="2409968"/>
            <a:ext cx="189338" cy="721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3"/>
              </a:lnSpc>
            </a:pPr>
            <a:r>
              <a:rPr lang="en-US" sz="25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1 0 0 1 0 1 0 1 0 1 0 1 0 1 0 0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28570" y="7205501"/>
            <a:ext cx="5319049" cy="1694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0"/>
              </a:lnSpc>
            </a:pPr>
            <a:r>
              <a:rPr lang="en-US" sz="33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System.out.println (“Bem vindos ao curso!”);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1235313" y="5275721"/>
            <a:ext cx="7019284" cy="7646282"/>
            <a:chOff x="0" y="0"/>
            <a:chExt cx="4197095" cy="457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141" y="1"/>
              <a:ext cx="4194143" cy="4571978"/>
            </a:xfrm>
            <a:custGeom>
              <a:avLst/>
              <a:gdLst/>
              <a:ahLst/>
              <a:cxnLst/>
              <a:rect r="r" b="b" t="t" l="l"/>
              <a:pathLst>
                <a:path h="4571978" w="4194143">
                  <a:moveTo>
                    <a:pt x="41785" y="2758506"/>
                  </a:moveTo>
                  <a:cubicBezTo>
                    <a:pt x="-2988" y="2314525"/>
                    <a:pt x="-25436" y="1842652"/>
                    <a:pt x="45678" y="1465408"/>
                  </a:cubicBezTo>
                  <a:cubicBezTo>
                    <a:pt x="125025" y="1044481"/>
                    <a:pt x="304474" y="629852"/>
                    <a:pt x="621468" y="341776"/>
                  </a:cubicBezTo>
                  <a:cubicBezTo>
                    <a:pt x="938462" y="53701"/>
                    <a:pt x="1407534" y="-86438"/>
                    <a:pt x="1811287" y="56580"/>
                  </a:cubicBezTo>
                  <a:cubicBezTo>
                    <a:pt x="2029191" y="133767"/>
                    <a:pt x="2234642" y="383293"/>
                    <a:pt x="2450487" y="466060"/>
                  </a:cubicBezTo>
                  <a:cubicBezTo>
                    <a:pt x="2773933" y="590087"/>
                    <a:pt x="3112654" y="374473"/>
                    <a:pt x="3438885" y="490977"/>
                  </a:cubicBezTo>
                  <a:cubicBezTo>
                    <a:pt x="3803019" y="621016"/>
                    <a:pt x="4096336" y="1030358"/>
                    <a:pt x="4172306" y="1409482"/>
                  </a:cubicBezTo>
                  <a:cubicBezTo>
                    <a:pt x="4248274" y="1788608"/>
                    <a:pt x="4123485" y="2132744"/>
                    <a:pt x="3837567" y="2393045"/>
                  </a:cubicBezTo>
                  <a:cubicBezTo>
                    <a:pt x="3477503" y="2720847"/>
                    <a:pt x="2979042" y="2972499"/>
                    <a:pt x="2624910" y="3306701"/>
                  </a:cubicBezTo>
                  <a:cubicBezTo>
                    <a:pt x="2322597" y="3592001"/>
                    <a:pt x="2136790" y="3928648"/>
                    <a:pt x="1792316" y="4161301"/>
                  </a:cubicBezTo>
                  <a:cubicBezTo>
                    <a:pt x="1426701" y="4408233"/>
                    <a:pt x="945211" y="4318999"/>
                    <a:pt x="609331" y="4063871"/>
                  </a:cubicBezTo>
                  <a:cubicBezTo>
                    <a:pt x="201442" y="3754045"/>
                    <a:pt x="90582" y="3242407"/>
                    <a:pt x="41785" y="2758506"/>
                  </a:cubicBezTo>
                  <a:close/>
                  <a:moveTo>
                    <a:pt x="3438420" y="4372887"/>
                  </a:moveTo>
                  <a:cubicBezTo>
                    <a:pt x="3606871" y="4260947"/>
                    <a:pt x="3830939" y="4267377"/>
                    <a:pt x="3987112" y="4142603"/>
                  </a:cubicBezTo>
                  <a:cubicBezTo>
                    <a:pt x="4129682" y="4028694"/>
                    <a:pt x="4208728" y="3837244"/>
                    <a:pt x="4170439" y="3658398"/>
                  </a:cubicBezTo>
                  <a:cubicBezTo>
                    <a:pt x="4107761" y="3365636"/>
                    <a:pt x="3783503" y="3213104"/>
                    <a:pt x="3511594" y="3311664"/>
                  </a:cubicBezTo>
                  <a:cubicBezTo>
                    <a:pt x="3131868" y="3449304"/>
                    <a:pt x="2748378" y="3840574"/>
                    <a:pt x="2643553" y="4233000"/>
                  </a:cubicBezTo>
                  <a:cubicBezTo>
                    <a:pt x="2592144" y="4425460"/>
                    <a:pt x="2744449" y="4534752"/>
                    <a:pt x="2913641" y="4565016"/>
                  </a:cubicBezTo>
                  <a:cubicBezTo>
                    <a:pt x="2977598" y="4576457"/>
                    <a:pt x="3036163" y="4573134"/>
                    <a:pt x="3091346" y="4559891"/>
                  </a:cubicBezTo>
                  <a:cubicBezTo>
                    <a:pt x="3216643" y="4529819"/>
                    <a:pt x="3324497" y="4448593"/>
                    <a:pt x="3438420" y="4372887"/>
                  </a:cubicBezTo>
                  <a:close/>
                </a:path>
              </a:pathLst>
            </a:custGeom>
            <a:blipFill>
              <a:blip r:embed="rId6"/>
              <a:stretch>
                <a:fillRect l="-5216" t="0" r="-5216" b="-1305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0"/>
              <a:ext cx="4197095" cy="4571979"/>
            </a:xfrm>
            <a:custGeom>
              <a:avLst/>
              <a:gdLst/>
              <a:ahLst/>
              <a:cxnLst/>
              <a:rect r="r" b="b" t="t" l="l"/>
              <a:pathLst>
                <a:path h="4571979" w="4197095">
                  <a:moveTo>
                    <a:pt x="4197095" y="4571980"/>
                  </a:moveTo>
                  <a:lnTo>
                    <a:pt x="0" y="4571980"/>
                  </a:lnTo>
                  <a:lnTo>
                    <a:pt x="0" y="0"/>
                  </a:lnTo>
                  <a:lnTo>
                    <a:pt x="4197095" y="0"/>
                  </a:lnTo>
                  <a:lnTo>
                    <a:pt x="4197095" y="4571980"/>
                  </a:lnTo>
                  <a:close/>
                </a:path>
              </a:pathLst>
            </a:custGeom>
            <a:blipFill>
              <a:blip r:embed="rId7"/>
              <a:stretch>
                <a:fillRect l="-40" t="0" r="-4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833958" y="5446957"/>
            <a:ext cx="6894612" cy="99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Temporada 26/27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86541" y="2105168"/>
            <a:ext cx="9560776" cy="3364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24"/>
              </a:lnSpc>
            </a:pPr>
            <a:r>
              <a:rPr lang="en-US" sz="91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Curso de programação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3187" y="580634"/>
            <a:ext cx="17048788" cy="9390174"/>
            <a:chOff x="0" y="0"/>
            <a:chExt cx="22731717" cy="125202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31717" cy="12520232"/>
            </a:xfrm>
            <a:custGeom>
              <a:avLst/>
              <a:gdLst/>
              <a:ahLst/>
              <a:cxnLst/>
              <a:rect r="r" b="b" t="t" l="l"/>
              <a:pathLst>
                <a:path h="12520232" w="22731717">
                  <a:moveTo>
                    <a:pt x="0" y="0"/>
                  </a:moveTo>
                  <a:lnTo>
                    <a:pt x="22731717" y="0"/>
                  </a:lnTo>
                  <a:lnTo>
                    <a:pt x="22731717" y="12520232"/>
                  </a:lnTo>
                  <a:lnTo>
                    <a:pt x="0" y="12520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11365859" y="2934145"/>
              <a:ext cx="11115054" cy="9229980"/>
              <a:chOff x="0" y="0"/>
              <a:chExt cx="2195566" cy="182320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195566" cy="1823206"/>
              </a:xfrm>
              <a:custGeom>
                <a:avLst/>
                <a:gdLst/>
                <a:ahLst/>
                <a:cxnLst/>
                <a:rect r="r" b="b" t="t" l="l"/>
                <a:pathLst>
                  <a:path h="1823206" w="2195566">
                    <a:moveTo>
                      <a:pt x="0" y="0"/>
                    </a:moveTo>
                    <a:lnTo>
                      <a:pt x="2195566" y="0"/>
                    </a:lnTo>
                    <a:lnTo>
                      <a:pt x="2195566" y="1823206"/>
                    </a:lnTo>
                    <a:lnTo>
                      <a:pt x="0" y="1823206"/>
                    </a:lnTo>
                    <a:close/>
                  </a:path>
                </a:pathLst>
              </a:custGeom>
              <a:solidFill>
                <a:srgbClr val="222121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2195566" cy="1870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53"/>
                  </a:lnSpc>
                </a:pPr>
              </a:p>
            </p:txBody>
          </p:sp>
        </p:grp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1728329" y="3575878"/>
            <a:ext cx="7019284" cy="7646282"/>
            <a:chOff x="0" y="0"/>
            <a:chExt cx="4197095" cy="457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141" y="1"/>
              <a:ext cx="4194143" cy="4571978"/>
            </a:xfrm>
            <a:custGeom>
              <a:avLst/>
              <a:gdLst/>
              <a:ahLst/>
              <a:cxnLst/>
              <a:rect r="r" b="b" t="t" l="l"/>
              <a:pathLst>
                <a:path h="4571978" w="4194143">
                  <a:moveTo>
                    <a:pt x="41785" y="2758506"/>
                  </a:moveTo>
                  <a:cubicBezTo>
                    <a:pt x="-2988" y="2314525"/>
                    <a:pt x="-25436" y="1842652"/>
                    <a:pt x="45678" y="1465408"/>
                  </a:cubicBezTo>
                  <a:cubicBezTo>
                    <a:pt x="125025" y="1044481"/>
                    <a:pt x="304474" y="629852"/>
                    <a:pt x="621468" y="341776"/>
                  </a:cubicBezTo>
                  <a:cubicBezTo>
                    <a:pt x="938462" y="53701"/>
                    <a:pt x="1407534" y="-86438"/>
                    <a:pt x="1811287" y="56580"/>
                  </a:cubicBezTo>
                  <a:cubicBezTo>
                    <a:pt x="2029191" y="133767"/>
                    <a:pt x="2234642" y="383293"/>
                    <a:pt x="2450487" y="466060"/>
                  </a:cubicBezTo>
                  <a:cubicBezTo>
                    <a:pt x="2773933" y="590087"/>
                    <a:pt x="3112654" y="374473"/>
                    <a:pt x="3438885" y="490977"/>
                  </a:cubicBezTo>
                  <a:cubicBezTo>
                    <a:pt x="3803019" y="621016"/>
                    <a:pt x="4096336" y="1030358"/>
                    <a:pt x="4172306" y="1409482"/>
                  </a:cubicBezTo>
                  <a:cubicBezTo>
                    <a:pt x="4248274" y="1788608"/>
                    <a:pt x="4123485" y="2132744"/>
                    <a:pt x="3837567" y="2393045"/>
                  </a:cubicBezTo>
                  <a:cubicBezTo>
                    <a:pt x="3477503" y="2720847"/>
                    <a:pt x="2979042" y="2972499"/>
                    <a:pt x="2624910" y="3306701"/>
                  </a:cubicBezTo>
                  <a:cubicBezTo>
                    <a:pt x="2322597" y="3592001"/>
                    <a:pt x="2136790" y="3928648"/>
                    <a:pt x="1792316" y="4161301"/>
                  </a:cubicBezTo>
                  <a:cubicBezTo>
                    <a:pt x="1426701" y="4408233"/>
                    <a:pt x="945211" y="4318999"/>
                    <a:pt x="609331" y="4063871"/>
                  </a:cubicBezTo>
                  <a:cubicBezTo>
                    <a:pt x="201442" y="3754045"/>
                    <a:pt x="90582" y="3242407"/>
                    <a:pt x="41785" y="2758506"/>
                  </a:cubicBezTo>
                  <a:close/>
                  <a:moveTo>
                    <a:pt x="3438420" y="4372887"/>
                  </a:moveTo>
                  <a:cubicBezTo>
                    <a:pt x="3606871" y="4260947"/>
                    <a:pt x="3830939" y="4267377"/>
                    <a:pt x="3987112" y="4142603"/>
                  </a:cubicBezTo>
                  <a:cubicBezTo>
                    <a:pt x="4129682" y="4028694"/>
                    <a:pt x="4208728" y="3837244"/>
                    <a:pt x="4170439" y="3658398"/>
                  </a:cubicBezTo>
                  <a:cubicBezTo>
                    <a:pt x="4107761" y="3365636"/>
                    <a:pt x="3783503" y="3213104"/>
                    <a:pt x="3511594" y="3311664"/>
                  </a:cubicBezTo>
                  <a:cubicBezTo>
                    <a:pt x="3131868" y="3449304"/>
                    <a:pt x="2748378" y="3840574"/>
                    <a:pt x="2643553" y="4233000"/>
                  </a:cubicBezTo>
                  <a:cubicBezTo>
                    <a:pt x="2592144" y="4425460"/>
                    <a:pt x="2744449" y="4534752"/>
                    <a:pt x="2913641" y="4565016"/>
                  </a:cubicBezTo>
                  <a:cubicBezTo>
                    <a:pt x="2977598" y="4576457"/>
                    <a:pt x="3036163" y="4573134"/>
                    <a:pt x="3091346" y="4559891"/>
                  </a:cubicBezTo>
                  <a:cubicBezTo>
                    <a:pt x="3216643" y="4529819"/>
                    <a:pt x="3324497" y="4448593"/>
                    <a:pt x="3438420" y="4372887"/>
                  </a:cubicBezTo>
                  <a:close/>
                </a:path>
              </a:pathLst>
            </a:custGeom>
            <a:blipFill>
              <a:blip r:embed="rId4"/>
              <a:stretch>
                <a:fillRect l="-5216" t="0" r="-5216" b="-1305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0"/>
              <a:ext cx="4197095" cy="4571979"/>
            </a:xfrm>
            <a:custGeom>
              <a:avLst/>
              <a:gdLst/>
              <a:ahLst/>
              <a:cxnLst/>
              <a:rect r="r" b="b" t="t" l="l"/>
              <a:pathLst>
                <a:path h="4571979" w="4197095">
                  <a:moveTo>
                    <a:pt x="4197095" y="4571980"/>
                  </a:moveTo>
                  <a:lnTo>
                    <a:pt x="0" y="4571980"/>
                  </a:lnTo>
                  <a:lnTo>
                    <a:pt x="0" y="0"/>
                  </a:lnTo>
                  <a:lnTo>
                    <a:pt x="4197095" y="0"/>
                  </a:lnTo>
                  <a:lnTo>
                    <a:pt x="4197095" y="4571980"/>
                  </a:lnTo>
                  <a:close/>
                </a:path>
              </a:pathLst>
            </a:custGeom>
            <a:blipFill>
              <a:blip r:embed="rId5"/>
              <a:stretch>
                <a:fillRect l="-40" t="0" r="-40" b="0"/>
              </a:stretch>
            </a:blipFill>
          </p:spPr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40073" y="4153509"/>
            <a:ext cx="4937760" cy="493776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51553" y="2020194"/>
            <a:ext cx="16107747" cy="224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1"/>
              </a:lnSpc>
            </a:pPr>
            <a:r>
              <a:rPr lang="en-US" sz="88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Como ter acesso ao classroom?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69023" y="5667523"/>
            <a:ext cx="6056636" cy="196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6"/>
              </a:lnSpc>
              <a:spcBef>
                <a:spcPct val="0"/>
              </a:spcBef>
            </a:pPr>
            <a:r>
              <a:rPr lang="en-US" sz="4611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Código da turma:</a:t>
            </a:r>
          </a:p>
          <a:p>
            <a:pPr algn="ctr">
              <a:lnSpc>
                <a:spcPts val="9379"/>
              </a:lnSpc>
              <a:spcBef>
                <a:spcPct val="0"/>
              </a:spcBef>
            </a:pPr>
            <a:r>
              <a:rPr lang="en-US" b="true" sz="66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k2skwu2i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87525" y="1957502"/>
            <a:ext cx="11712950" cy="7364301"/>
          </a:xfrm>
          <a:custGeom>
            <a:avLst/>
            <a:gdLst/>
            <a:ahLst/>
            <a:cxnLst/>
            <a:rect r="r" b="b" t="t" l="l"/>
            <a:pathLst>
              <a:path h="7364301" w="11712950">
                <a:moveTo>
                  <a:pt x="0" y="0"/>
                </a:moveTo>
                <a:lnTo>
                  <a:pt x="11712950" y="0"/>
                </a:lnTo>
                <a:lnTo>
                  <a:pt x="11712950" y="7364301"/>
                </a:lnTo>
                <a:lnTo>
                  <a:pt x="0" y="73643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6524" y="414452"/>
            <a:ext cx="16652776" cy="1267354"/>
            <a:chOff x="0" y="0"/>
            <a:chExt cx="4385916" cy="3337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5916" cy="333789"/>
            </a:xfrm>
            <a:custGeom>
              <a:avLst/>
              <a:gdLst/>
              <a:ahLst/>
              <a:cxnLst/>
              <a:rect r="r" b="b" t="t" l="l"/>
              <a:pathLst>
                <a:path h="333789" w="4385916">
                  <a:moveTo>
                    <a:pt x="23710" y="0"/>
                  </a:moveTo>
                  <a:lnTo>
                    <a:pt x="4362206" y="0"/>
                  </a:lnTo>
                  <a:cubicBezTo>
                    <a:pt x="4368494" y="0"/>
                    <a:pt x="4374525" y="2498"/>
                    <a:pt x="4378971" y="6945"/>
                  </a:cubicBezTo>
                  <a:cubicBezTo>
                    <a:pt x="4383418" y="11391"/>
                    <a:pt x="4385916" y="17422"/>
                    <a:pt x="4385916" y="23710"/>
                  </a:cubicBezTo>
                  <a:lnTo>
                    <a:pt x="4385916" y="310079"/>
                  </a:lnTo>
                  <a:cubicBezTo>
                    <a:pt x="4385916" y="323173"/>
                    <a:pt x="4375301" y="333789"/>
                    <a:pt x="4362206" y="333789"/>
                  </a:cubicBezTo>
                  <a:lnTo>
                    <a:pt x="23710" y="333789"/>
                  </a:lnTo>
                  <a:cubicBezTo>
                    <a:pt x="10615" y="333789"/>
                    <a:pt x="0" y="323173"/>
                    <a:pt x="0" y="310079"/>
                  </a:cubicBezTo>
                  <a:lnTo>
                    <a:pt x="0" y="23710"/>
                  </a:lnTo>
                  <a:cubicBezTo>
                    <a:pt x="0" y="10615"/>
                    <a:pt x="10615" y="0"/>
                    <a:pt x="23710" y="0"/>
                  </a:cubicBezTo>
                  <a:close/>
                </a:path>
              </a:pathLst>
            </a:custGeom>
            <a:solidFill>
              <a:srgbClr val="A8101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23850"/>
              <a:ext cx="4385916" cy="657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5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608883" y="964687"/>
            <a:ext cx="1300834" cy="1300834"/>
            <a:chOff x="0" y="0"/>
            <a:chExt cx="647700" cy="647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7D0B0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52400" y="-171450"/>
              <a:ext cx="342900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5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4999" y="202870"/>
            <a:ext cx="15784017" cy="1412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Habilidades contempladas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82243" y="3632254"/>
            <a:ext cx="5021461" cy="85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5"/>
              </a:lnSpc>
            </a:pPr>
            <a:r>
              <a:rPr lang="en-US" sz="3138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Lógica de programação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82243" y="4675870"/>
            <a:ext cx="9325570" cy="85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5"/>
              </a:lnSpc>
            </a:pPr>
            <a:r>
              <a:rPr lang="en-US" sz="3138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Manipulação de dados de entrada e saída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82243" y="5719486"/>
            <a:ext cx="9806694" cy="85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45"/>
              </a:lnSpc>
            </a:pPr>
            <a:r>
              <a:rPr lang="en-US" sz="3138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Organização básica de um programa Java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82243" y="7096856"/>
            <a:ext cx="5738812" cy="52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3"/>
              </a:lnSpc>
              <a:spcBef>
                <a:spcPct val="0"/>
              </a:spcBef>
            </a:pPr>
            <a:r>
              <a:rPr lang="en-US" sz="3138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Noções de encapsulamento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82243" y="7999796"/>
            <a:ext cx="7173516" cy="52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3"/>
              </a:lnSpc>
              <a:spcBef>
                <a:spcPct val="0"/>
              </a:spcBef>
            </a:pPr>
            <a:r>
              <a:rPr lang="en-US" sz="3138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Estrutura e laços de repetição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958466" y="1307085"/>
            <a:ext cx="1300834" cy="1300834"/>
            <a:chOff x="0" y="0"/>
            <a:chExt cx="647700" cy="6477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73292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52400" y="-171450"/>
              <a:ext cx="342900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50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87525" y="1957502"/>
            <a:ext cx="11712950" cy="7364301"/>
          </a:xfrm>
          <a:custGeom>
            <a:avLst/>
            <a:gdLst/>
            <a:ahLst/>
            <a:cxnLst/>
            <a:rect r="r" b="b" t="t" l="l"/>
            <a:pathLst>
              <a:path h="7364301" w="11712950">
                <a:moveTo>
                  <a:pt x="0" y="0"/>
                </a:moveTo>
                <a:lnTo>
                  <a:pt x="11712950" y="0"/>
                </a:lnTo>
                <a:lnTo>
                  <a:pt x="11712950" y="7364301"/>
                </a:lnTo>
                <a:lnTo>
                  <a:pt x="0" y="73643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82243" y="3689404"/>
            <a:ext cx="10104140" cy="713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26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Quebrar problemas em partes menores e solucionáveis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82243" y="4733020"/>
            <a:ext cx="9906000" cy="713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Identificar erros no código (sintáticos e lógicos)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82243" y="5776636"/>
            <a:ext cx="7070168" cy="713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Proatividade e criatividade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82243" y="6823751"/>
            <a:ext cx="3764359" cy="713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Trabalho em equipe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82243" y="7867746"/>
            <a:ext cx="5151140" cy="713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Comunicação e escuta ativa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77748" y="484887"/>
            <a:ext cx="17288632" cy="1267354"/>
            <a:chOff x="0" y="0"/>
            <a:chExt cx="4553385" cy="3337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53385" cy="333789"/>
            </a:xfrm>
            <a:custGeom>
              <a:avLst/>
              <a:gdLst/>
              <a:ahLst/>
              <a:cxnLst/>
              <a:rect r="r" b="b" t="t" l="l"/>
              <a:pathLst>
                <a:path h="333789" w="4553385">
                  <a:moveTo>
                    <a:pt x="22838" y="0"/>
                  </a:moveTo>
                  <a:lnTo>
                    <a:pt x="4530547" y="0"/>
                  </a:lnTo>
                  <a:cubicBezTo>
                    <a:pt x="4536604" y="0"/>
                    <a:pt x="4542413" y="2406"/>
                    <a:pt x="4546696" y="6689"/>
                  </a:cubicBezTo>
                  <a:cubicBezTo>
                    <a:pt x="4550979" y="10972"/>
                    <a:pt x="4553385" y="16781"/>
                    <a:pt x="4553385" y="22838"/>
                  </a:cubicBezTo>
                  <a:lnTo>
                    <a:pt x="4553385" y="310951"/>
                  </a:lnTo>
                  <a:cubicBezTo>
                    <a:pt x="4553385" y="317008"/>
                    <a:pt x="4550979" y="322817"/>
                    <a:pt x="4546696" y="327099"/>
                  </a:cubicBezTo>
                  <a:cubicBezTo>
                    <a:pt x="4542413" y="331382"/>
                    <a:pt x="4536604" y="333789"/>
                    <a:pt x="4530547" y="333789"/>
                  </a:cubicBezTo>
                  <a:lnTo>
                    <a:pt x="22838" y="333789"/>
                  </a:lnTo>
                  <a:cubicBezTo>
                    <a:pt x="16781" y="333789"/>
                    <a:pt x="10972" y="331382"/>
                    <a:pt x="6689" y="327099"/>
                  </a:cubicBezTo>
                  <a:cubicBezTo>
                    <a:pt x="2406" y="322817"/>
                    <a:pt x="0" y="317008"/>
                    <a:pt x="0" y="310951"/>
                  </a:cubicBezTo>
                  <a:lnTo>
                    <a:pt x="0" y="22838"/>
                  </a:lnTo>
                  <a:cubicBezTo>
                    <a:pt x="0" y="16781"/>
                    <a:pt x="2406" y="10972"/>
                    <a:pt x="6689" y="6689"/>
                  </a:cubicBezTo>
                  <a:cubicBezTo>
                    <a:pt x="10972" y="2406"/>
                    <a:pt x="16781" y="0"/>
                    <a:pt x="22838" y="0"/>
                  </a:cubicBezTo>
                  <a:close/>
                </a:path>
              </a:pathLst>
            </a:custGeom>
            <a:solidFill>
              <a:srgbClr val="A8101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23850"/>
              <a:ext cx="4553385" cy="657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5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608883" y="964687"/>
            <a:ext cx="1300834" cy="1300834"/>
            <a:chOff x="0" y="0"/>
            <a:chExt cx="647700" cy="647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7D0B0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52400" y="-171450"/>
              <a:ext cx="342900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5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06524" y="269572"/>
            <a:ext cx="16760428" cy="1412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competências </a:t>
            </a:r>
            <a:r>
              <a:rPr lang="en-US" sz="7400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contempladas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958466" y="1307085"/>
            <a:ext cx="1300834" cy="1300834"/>
            <a:chOff x="0" y="0"/>
            <a:chExt cx="647700" cy="6477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73292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52400" y="-171450"/>
              <a:ext cx="342900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50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4292" y="2188509"/>
            <a:ext cx="4809144" cy="3452971"/>
          </a:xfrm>
          <a:custGeom>
            <a:avLst/>
            <a:gdLst/>
            <a:ahLst/>
            <a:cxnLst/>
            <a:rect r="r" b="b" t="t" l="l"/>
            <a:pathLst>
              <a:path h="3452971" w="4809144">
                <a:moveTo>
                  <a:pt x="0" y="0"/>
                </a:moveTo>
                <a:lnTo>
                  <a:pt x="4809144" y="0"/>
                </a:lnTo>
                <a:lnTo>
                  <a:pt x="4809144" y="3452970"/>
                </a:lnTo>
                <a:lnTo>
                  <a:pt x="0" y="3452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51272" y="1052274"/>
            <a:ext cx="10585447" cy="466696"/>
            <a:chOff x="0" y="0"/>
            <a:chExt cx="10585450" cy="466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0458450" cy="339727"/>
            </a:xfrm>
            <a:custGeom>
              <a:avLst/>
              <a:gdLst/>
              <a:ahLst/>
              <a:cxnLst/>
              <a:rect r="r" b="b" t="t" l="l"/>
              <a:pathLst>
                <a:path h="339727" w="10458450">
                  <a:moveTo>
                    <a:pt x="0" y="0"/>
                  </a:moveTo>
                  <a:lnTo>
                    <a:pt x="0" y="339727"/>
                  </a:lnTo>
                  <a:lnTo>
                    <a:pt x="10458450" y="339727"/>
                  </a:lnTo>
                  <a:lnTo>
                    <a:pt x="10458450" y="0"/>
                  </a:lnTo>
                  <a:close/>
                </a:path>
              </a:pathLst>
            </a:custGeom>
            <a:solidFill>
              <a:srgbClr val="AE181D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0458450" cy="339727"/>
            </a:xfrm>
            <a:custGeom>
              <a:avLst/>
              <a:gdLst/>
              <a:ahLst/>
              <a:cxnLst/>
              <a:rect r="r" b="b" t="t" l="l"/>
              <a:pathLst>
                <a:path h="339727" w="10458450">
                  <a:moveTo>
                    <a:pt x="0" y="339727"/>
                  </a:moveTo>
                  <a:lnTo>
                    <a:pt x="10458450" y="339727"/>
                  </a:lnTo>
                  <a:lnTo>
                    <a:pt x="104584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14927" y="428082"/>
            <a:ext cx="10458351" cy="141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9"/>
              </a:lnSpc>
            </a:pPr>
            <a:r>
              <a:rPr lang="en-US" sz="73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Módulos do curso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3820" y="1918770"/>
            <a:ext cx="1879005" cy="92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4022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Aula 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53187" y="3635731"/>
            <a:ext cx="100632" cy="79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76"/>
              </a:lnSpc>
            </a:pPr>
            <a:r>
              <a:rPr lang="en-US" sz="31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33973" y="3294854"/>
            <a:ext cx="4139059" cy="112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5"/>
              </a:lnSpc>
              <a:spcBef>
                <a:spcPct val="0"/>
              </a:spcBef>
            </a:pPr>
            <a:r>
              <a:rPr lang="en-US" sz="3344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-Lógica de programação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60557" y="3770776"/>
            <a:ext cx="107252" cy="54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4"/>
              </a:lnSpc>
            </a:pPr>
            <a:r>
              <a:rPr lang="en-US" sz="33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04055" y="4964965"/>
            <a:ext cx="3017540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Data - Local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54292" y="5997864"/>
            <a:ext cx="4809144" cy="3452971"/>
          </a:xfrm>
          <a:custGeom>
            <a:avLst/>
            <a:gdLst/>
            <a:ahLst/>
            <a:cxnLst/>
            <a:rect r="r" b="b" t="t" l="l"/>
            <a:pathLst>
              <a:path h="3452971" w="4809144">
                <a:moveTo>
                  <a:pt x="0" y="0"/>
                </a:moveTo>
                <a:lnTo>
                  <a:pt x="4809144" y="0"/>
                </a:lnTo>
                <a:lnTo>
                  <a:pt x="4809144" y="3452971"/>
                </a:lnTo>
                <a:lnTo>
                  <a:pt x="0" y="34529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003748" y="5997864"/>
            <a:ext cx="4809144" cy="3452971"/>
          </a:xfrm>
          <a:custGeom>
            <a:avLst/>
            <a:gdLst/>
            <a:ahLst/>
            <a:cxnLst/>
            <a:rect r="r" b="b" t="t" l="l"/>
            <a:pathLst>
              <a:path h="3452971" w="4809144">
                <a:moveTo>
                  <a:pt x="0" y="0"/>
                </a:moveTo>
                <a:lnTo>
                  <a:pt x="4809144" y="0"/>
                </a:lnTo>
                <a:lnTo>
                  <a:pt x="4809144" y="3452971"/>
                </a:lnTo>
                <a:lnTo>
                  <a:pt x="0" y="34529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753203" y="5997864"/>
            <a:ext cx="4809144" cy="3452971"/>
          </a:xfrm>
          <a:custGeom>
            <a:avLst/>
            <a:gdLst/>
            <a:ahLst/>
            <a:cxnLst/>
            <a:rect r="r" b="b" t="t" l="l"/>
            <a:pathLst>
              <a:path h="3452971" w="4809144">
                <a:moveTo>
                  <a:pt x="0" y="0"/>
                </a:moveTo>
                <a:lnTo>
                  <a:pt x="4809144" y="0"/>
                </a:lnTo>
                <a:lnTo>
                  <a:pt x="4809144" y="3452971"/>
                </a:lnTo>
                <a:lnTo>
                  <a:pt x="0" y="34529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003748" y="2233095"/>
            <a:ext cx="4809144" cy="3452971"/>
          </a:xfrm>
          <a:custGeom>
            <a:avLst/>
            <a:gdLst/>
            <a:ahLst/>
            <a:cxnLst/>
            <a:rect r="r" b="b" t="t" l="l"/>
            <a:pathLst>
              <a:path h="3452971" w="4809144">
                <a:moveTo>
                  <a:pt x="0" y="0"/>
                </a:moveTo>
                <a:lnTo>
                  <a:pt x="4809144" y="0"/>
                </a:lnTo>
                <a:lnTo>
                  <a:pt x="4809144" y="3452971"/>
                </a:lnTo>
                <a:lnTo>
                  <a:pt x="0" y="34529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283752" y="3095227"/>
            <a:ext cx="3929215" cy="169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5"/>
              </a:lnSpc>
            </a:pPr>
            <a:r>
              <a:rPr lang="en-US" sz="3344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-Introdução ao Java </a:t>
            </a:r>
          </a:p>
          <a:p>
            <a:pPr algn="l">
              <a:lnSpc>
                <a:spcPts val="4565"/>
              </a:lnSpc>
            </a:pPr>
            <a:r>
              <a:rPr lang="en-US" sz="3344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-Variáveis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42999" y="4983001"/>
            <a:ext cx="3017540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20"/>
              </a:lnSpc>
              <a:spcBef>
                <a:spcPct val="0"/>
              </a:spcBef>
            </a:pPr>
            <a:r>
              <a:rPr lang="en-US" sz="33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Data - Local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83752" y="1957089"/>
            <a:ext cx="2068017" cy="92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4022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aula 2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753203" y="2233095"/>
            <a:ext cx="4809144" cy="3452971"/>
          </a:xfrm>
          <a:custGeom>
            <a:avLst/>
            <a:gdLst/>
            <a:ahLst/>
            <a:cxnLst/>
            <a:rect r="r" b="b" t="t" l="l"/>
            <a:pathLst>
              <a:path h="3452971" w="4809144">
                <a:moveTo>
                  <a:pt x="0" y="0"/>
                </a:moveTo>
                <a:lnTo>
                  <a:pt x="4809144" y="0"/>
                </a:lnTo>
                <a:lnTo>
                  <a:pt x="4809144" y="3452971"/>
                </a:lnTo>
                <a:lnTo>
                  <a:pt x="0" y="34529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122969" y="2117907"/>
            <a:ext cx="1942207" cy="74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3"/>
              </a:lnSpc>
            </a:pPr>
            <a:r>
              <a:rPr lang="en-US" sz="3817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Aula 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91532" y="3044147"/>
            <a:ext cx="4332486" cy="54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5"/>
              </a:lnSpc>
              <a:spcBef>
                <a:spcPct val="0"/>
              </a:spcBef>
            </a:pPr>
            <a:r>
              <a:rPr lang="en-US" sz="3344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-Dados de entrada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91532" y="3666727"/>
            <a:ext cx="5207495" cy="112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5"/>
              </a:lnSpc>
              <a:spcBef>
                <a:spcPct val="0"/>
              </a:spcBef>
            </a:pPr>
            <a:r>
              <a:rPr lang="en-US" sz="3344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-Operadores aritméticos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94067" y="4983001"/>
            <a:ext cx="3017540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20"/>
              </a:lnSpc>
              <a:spcBef>
                <a:spcPct val="0"/>
              </a:spcBef>
            </a:pPr>
            <a:r>
              <a:rPr lang="en-US" sz="33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Data - Local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02207" y="5845464"/>
            <a:ext cx="2010668" cy="74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6"/>
              </a:lnSpc>
            </a:pPr>
            <a:r>
              <a:rPr lang="en-US" sz="3911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Aula 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33973" y="6807634"/>
            <a:ext cx="3836194" cy="169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5"/>
              </a:lnSpc>
              <a:spcBef>
                <a:spcPct val="0"/>
              </a:spcBef>
            </a:pPr>
            <a:r>
              <a:rPr lang="en-US" sz="3344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-Operadores lógicos e Relacionais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04055" y="8694420"/>
            <a:ext cx="3017540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20"/>
              </a:lnSpc>
              <a:spcBef>
                <a:spcPct val="0"/>
              </a:spcBef>
            </a:pPr>
            <a:r>
              <a:rPr lang="en-US" sz="33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Data - Local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50833" y="5791160"/>
            <a:ext cx="1957487" cy="80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8"/>
              </a:lnSpc>
            </a:pPr>
            <a:r>
              <a:rPr lang="en-US" sz="3807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Aula 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83752" y="7065185"/>
            <a:ext cx="3548909" cy="112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5"/>
              </a:lnSpc>
              <a:spcBef>
                <a:spcPct val="0"/>
              </a:spcBef>
            </a:pPr>
            <a:r>
              <a:rPr lang="en-US" sz="3344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-Estruturas Condicionais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739590" y="8633400"/>
            <a:ext cx="3017540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20"/>
              </a:lnSpc>
              <a:spcBef>
                <a:spcPct val="0"/>
              </a:spcBef>
            </a:pPr>
            <a:r>
              <a:rPr lang="en-US" sz="33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Data - Local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235618" y="5914666"/>
            <a:ext cx="1977529" cy="74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8"/>
              </a:lnSpc>
            </a:pPr>
            <a:r>
              <a:rPr lang="en-US" sz="3846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Aula 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91532" y="7065185"/>
            <a:ext cx="3808108" cy="112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5"/>
              </a:lnSpc>
              <a:spcBef>
                <a:spcPct val="0"/>
              </a:spcBef>
            </a:pPr>
            <a:r>
              <a:rPr lang="en-US" sz="3344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-Estruturas de repetição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594067" y="8694420"/>
            <a:ext cx="3017540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20"/>
              </a:lnSpc>
              <a:spcBef>
                <a:spcPct val="0"/>
              </a:spcBef>
            </a:pPr>
            <a:r>
              <a:rPr lang="en-US" sz="3300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Data - Local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5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3187" y="580634"/>
            <a:ext cx="16993448" cy="9769869"/>
          </a:xfrm>
          <a:custGeom>
            <a:avLst/>
            <a:gdLst/>
            <a:ahLst/>
            <a:cxnLst/>
            <a:rect r="r" b="b" t="t" l="l"/>
            <a:pathLst>
              <a:path h="9769869" w="16993448">
                <a:moveTo>
                  <a:pt x="0" y="0"/>
                </a:moveTo>
                <a:lnTo>
                  <a:pt x="16993448" y="0"/>
                </a:lnTo>
                <a:lnTo>
                  <a:pt x="16993448" y="9769869"/>
                </a:lnTo>
                <a:lnTo>
                  <a:pt x="0" y="97698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5860" y="2409968"/>
            <a:ext cx="189338" cy="721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3"/>
              </a:lnSpc>
            </a:pPr>
            <a:r>
              <a:rPr lang="en-US" sz="25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1 0 0 1 0 1 0 1 0 1 0 1 0 1 0 0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940632" y="2409968"/>
            <a:ext cx="189338" cy="721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3"/>
              </a:lnSpc>
            </a:pPr>
            <a:r>
              <a:rPr lang="en-US" sz="25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1 0 0 1 0 1 0 1 0 1 0 1 0 1 0 0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7803" y="2076212"/>
            <a:ext cx="8668350" cy="4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73"/>
              </a:lnSpc>
            </a:pPr>
            <a:r>
              <a:rPr lang="en-US" sz="7800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INTRODUZINDO CONCEITOS E FERRAMENTAS 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-1501839" y="5805081"/>
            <a:ext cx="7019284" cy="7646282"/>
            <a:chOff x="0" y="0"/>
            <a:chExt cx="4197095" cy="457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141" y="1"/>
              <a:ext cx="4194143" cy="4571978"/>
            </a:xfrm>
            <a:custGeom>
              <a:avLst/>
              <a:gdLst/>
              <a:ahLst/>
              <a:cxnLst/>
              <a:rect r="r" b="b" t="t" l="l"/>
              <a:pathLst>
                <a:path h="4571978" w="4194143">
                  <a:moveTo>
                    <a:pt x="41785" y="2758506"/>
                  </a:moveTo>
                  <a:cubicBezTo>
                    <a:pt x="-2988" y="2314525"/>
                    <a:pt x="-25436" y="1842652"/>
                    <a:pt x="45678" y="1465408"/>
                  </a:cubicBezTo>
                  <a:cubicBezTo>
                    <a:pt x="125025" y="1044481"/>
                    <a:pt x="304474" y="629852"/>
                    <a:pt x="621468" y="341776"/>
                  </a:cubicBezTo>
                  <a:cubicBezTo>
                    <a:pt x="938462" y="53701"/>
                    <a:pt x="1407534" y="-86438"/>
                    <a:pt x="1811287" y="56580"/>
                  </a:cubicBezTo>
                  <a:cubicBezTo>
                    <a:pt x="2029191" y="133767"/>
                    <a:pt x="2234642" y="383293"/>
                    <a:pt x="2450487" y="466060"/>
                  </a:cubicBezTo>
                  <a:cubicBezTo>
                    <a:pt x="2773933" y="590087"/>
                    <a:pt x="3112654" y="374473"/>
                    <a:pt x="3438885" y="490977"/>
                  </a:cubicBezTo>
                  <a:cubicBezTo>
                    <a:pt x="3803019" y="621016"/>
                    <a:pt x="4096336" y="1030358"/>
                    <a:pt x="4172306" y="1409482"/>
                  </a:cubicBezTo>
                  <a:cubicBezTo>
                    <a:pt x="4248274" y="1788608"/>
                    <a:pt x="4123485" y="2132744"/>
                    <a:pt x="3837567" y="2393045"/>
                  </a:cubicBezTo>
                  <a:cubicBezTo>
                    <a:pt x="3477503" y="2720847"/>
                    <a:pt x="2979042" y="2972499"/>
                    <a:pt x="2624910" y="3306701"/>
                  </a:cubicBezTo>
                  <a:cubicBezTo>
                    <a:pt x="2322597" y="3592001"/>
                    <a:pt x="2136790" y="3928648"/>
                    <a:pt x="1792316" y="4161301"/>
                  </a:cubicBezTo>
                  <a:cubicBezTo>
                    <a:pt x="1426701" y="4408233"/>
                    <a:pt x="945211" y="4318999"/>
                    <a:pt x="609331" y="4063871"/>
                  </a:cubicBezTo>
                  <a:cubicBezTo>
                    <a:pt x="201442" y="3754045"/>
                    <a:pt x="90582" y="3242407"/>
                    <a:pt x="41785" y="2758506"/>
                  </a:cubicBezTo>
                  <a:close/>
                  <a:moveTo>
                    <a:pt x="3438420" y="4372887"/>
                  </a:moveTo>
                  <a:cubicBezTo>
                    <a:pt x="3606871" y="4260947"/>
                    <a:pt x="3830939" y="4267377"/>
                    <a:pt x="3987112" y="4142603"/>
                  </a:cubicBezTo>
                  <a:cubicBezTo>
                    <a:pt x="4129682" y="4028694"/>
                    <a:pt x="4208728" y="3837244"/>
                    <a:pt x="4170439" y="3658398"/>
                  </a:cubicBezTo>
                  <a:cubicBezTo>
                    <a:pt x="4107761" y="3365636"/>
                    <a:pt x="3783503" y="3213104"/>
                    <a:pt x="3511594" y="3311664"/>
                  </a:cubicBezTo>
                  <a:cubicBezTo>
                    <a:pt x="3131868" y="3449304"/>
                    <a:pt x="2748378" y="3840574"/>
                    <a:pt x="2643553" y="4233000"/>
                  </a:cubicBezTo>
                  <a:cubicBezTo>
                    <a:pt x="2592144" y="4425460"/>
                    <a:pt x="2744449" y="4534752"/>
                    <a:pt x="2913641" y="4565016"/>
                  </a:cubicBezTo>
                  <a:cubicBezTo>
                    <a:pt x="2977598" y="4576457"/>
                    <a:pt x="3036163" y="4573134"/>
                    <a:pt x="3091346" y="4559891"/>
                  </a:cubicBezTo>
                  <a:cubicBezTo>
                    <a:pt x="3216643" y="4529819"/>
                    <a:pt x="3324497" y="4448593"/>
                    <a:pt x="3438420" y="4372887"/>
                  </a:cubicBezTo>
                  <a:close/>
                </a:path>
              </a:pathLst>
            </a:custGeom>
            <a:blipFill>
              <a:blip r:embed="rId4"/>
              <a:stretch>
                <a:fillRect l="-5216" t="0" r="-5216" b="-1305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"/>
              <a:ext cx="4197095" cy="4571979"/>
            </a:xfrm>
            <a:custGeom>
              <a:avLst/>
              <a:gdLst/>
              <a:ahLst/>
              <a:cxnLst/>
              <a:rect r="r" b="b" t="t" l="l"/>
              <a:pathLst>
                <a:path h="4571979" w="4197095">
                  <a:moveTo>
                    <a:pt x="4197095" y="4571980"/>
                  </a:moveTo>
                  <a:lnTo>
                    <a:pt x="0" y="4571980"/>
                  </a:lnTo>
                  <a:lnTo>
                    <a:pt x="0" y="0"/>
                  </a:lnTo>
                  <a:lnTo>
                    <a:pt x="4197095" y="0"/>
                  </a:lnTo>
                  <a:lnTo>
                    <a:pt x="4197095" y="4571980"/>
                  </a:lnTo>
                  <a:close/>
                </a:path>
              </a:pathLst>
            </a:custGeom>
            <a:blipFill>
              <a:blip r:embed="rId5"/>
              <a:stretch>
                <a:fillRect l="-40" t="0" r="-4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18580" y="-2636891"/>
            <a:ext cx="14942420" cy="14942420"/>
          </a:xfrm>
          <a:custGeom>
            <a:avLst/>
            <a:gdLst/>
            <a:ahLst/>
            <a:cxnLst/>
            <a:rect r="r" b="b" t="t" l="l"/>
            <a:pathLst>
              <a:path h="14942420" w="14942420">
                <a:moveTo>
                  <a:pt x="0" y="0"/>
                </a:moveTo>
                <a:lnTo>
                  <a:pt x="14942420" y="0"/>
                </a:lnTo>
                <a:lnTo>
                  <a:pt x="14942420" y="14942419"/>
                </a:lnTo>
                <a:lnTo>
                  <a:pt x="0" y="14942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40588" y="179232"/>
            <a:ext cx="1670047" cy="1670047"/>
          </a:xfrm>
          <a:custGeom>
            <a:avLst/>
            <a:gdLst/>
            <a:ahLst/>
            <a:cxnLst/>
            <a:rect r="r" b="b" t="t" l="l"/>
            <a:pathLst>
              <a:path h="1670047" w="1670047">
                <a:moveTo>
                  <a:pt x="0" y="0"/>
                </a:moveTo>
                <a:lnTo>
                  <a:pt x="1670047" y="0"/>
                </a:lnTo>
                <a:lnTo>
                  <a:pt x="1670047" y="1670047"/>
                </a:lnTo>
                <a:lnTo>
                  <a:pt x="0" y="1670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40588" y="5661088"/>
            <a:ext cx="1670047" cy="1670047"/>
          </a:xfrm>
          <a:custGeom>
            <a:avLst/>
            <a:gdLst/>
            <a:ahLst/>
            <a:cxnLst/>
            <a:rect r="r" b="b" t="t" l="l"/>
            <a:pathLst>
              <a:path h="1670047" w="1670047">
                <a:moveTo>
                  <a:pt x="0" y="0"/>
                </a:moveTo>
                <a:lnTo>
                  <a:pt x="1670047" y="0"/>
                </a:lnTo>
                <a:lnTo>
                  <a:pt x="1670047" y="1670047"/>
                </a:lnTo>
                <a:lnTo>
                  <a:pt x="0" y="1670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21859" y="4405522"/>
            <a:ext cx="9066571" cy="184147"/>
          </a:xfrm>
          <a:custGeom>
            <a:avLst/>
            <a:gdLst/>
            <a:ahLst/>
            <a:cxnLst/>
            <a:rect r="r" b="b" t="t" l="l"/>
            <a:pathLst>
              <a:path h="184147" w="9066571">
                <a:moveTo>
                  <a:pt x="0" y="0"/>
                </a:moveTo>
                <a:lnTo>
                  <a:pt x="9066571" y="0"/>
                </a:lnTo>
                <a:lnTo>
                  <a:pt x="9066571" y="184147"/>
                </a:lnTo>
                <a:lnTo>
                  <a:pt x="0" y="1841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829810" y="6555816"/>
            <a:ext cx="6944287" cy="519767"/>
            <a:chOff x="0" y="0"/>
            <a:chExt cx="6944284" cy="5197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76872"/>
              <a:ext cx="6817234" cy="366064"/>
            </a:xfrm>
            <a:custGeom>
              <a:avLst/>
              <a:gdLst/>
              <a:ahLst/>
              <a:cxnLst/>
              <a:rect r="r" b="b" t="t" l="l"/>
              <a:pathLst>
                <a:path h="366064" w="6817234">
                  <a:moveTo>
                    <a:pt x="0" y="0"/>
                  </a:moveTo>
                  <a:lnTo>
                    <a:pt x="6817234" y="0"/>
                  </a:lnTo>
                  <a:lnTo>
                    <a:pt x="6817234" y="366064"/>
                  </a:lnTo>
                  <a:lnTo>
                    <a:pt x="0" y="366064"/>
                  </a:lnTo>
                  <a:close/>
                </a:path>
              </a:pathLst>
            </a:custGeom>
            <a:solidFill>
              <a:srgbClr val="AE181D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76872"/>
              <a:ext cx="6817234" cy="366064"/>
            </a:xfrm>
            <a:custGeom>
              <a:avLst/>
              <a:gdLst/>
              <a:ahLst/>
              <a:cxnLst/>
              <a:rect r="r" b="b" t="t" l="l"/>
              <a:pathLst>
                <a:path h="366064" w="6817234">
                  <a:moveTo>
                    <a:pt x="0" y="366064"/>
                  </a:moveTo>
                  <a:lnTo>
                    <a:pt x="6817234" y="366064"/>
                  </a:lnTo>
                  <a:lnTo>
                    <a:pt x="68172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731397" y="1022661"/>
            <a:ext cx="5550094" cy="367389"/>
            <a:chOff x="0" y="0"/>
            <a:chExt cx="5550090" cy="3673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5422771" cy="240409"/>
            </a:xfrm>
            <a:custGeom>
              <a:avLst/>
              <a:gdLst/>
              <a:ahLst/>
              <a:cxnLst/>
              <a:rect r="r" b="b" t="t" l="l"/>
              <a:pathLst>
                <a:path h="240409" w="5422771">
                  <a:moveTo>
                    <a:pt x="0" y="0"/>
                  </a:moveTo>
                  <a:lnTo>
                    <a:pt x="5422771" y="0"/>
                  </a:lnTo>
                  <a:lnTo>
                    <a:pt x="5422771" y="240409"/>
                  </a:lnTo>
                  <a:lnTo>
                    <a:pt x="0" y="240409"/>
                  </a:lnTo>
                  <a:close/>
                </a:path>
              </a:pathLst>
            </a:custGeom>
            <a:solidFill>
              <a:srgbClr val="AE181D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5423152" cy="240409"/>
            </a:xfrm>
            <a:custGeom>
              <a:avLst/>
              <a:gdLst/>
              <a:ahLst/>
              <a:cxnLst/>
              <a:rect r="r" b="b" t="t" l="l"/>
              <a:pathLst>
                <a:path h="240409" w="5423152">
                  <a:moveTo>
                    <a:pt x="0" y="240409"/>
                  </a:moveTo>
                  <a:lnTo>
                    <a:pt x="5423152" y="240409"/>
                  </a:lnTo>
                  <a:lnTo>
                    <a:pt x="54231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830686" y="668103"/>
            <a:ext cx="6557268" cy="672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6"/>
              </a:lnSpc>
            </a:pPr>
            <a:r>
              <a:rPr lang="en-US" sz="3911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O que é a programação?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30686" y="5584888"/>
            <a:ext cx="5752763" cy="136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6"/>
              </a:lnSpc>
            </a:pPr>
            <a:r>
              <a:rPr lang="en-US" sz="3911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 programação dentro da robótica: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5258" y="4661144"/>
            <a:ext cx="5320589" cy="107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INTRODUÇÃO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10635" y="1782604"/>
            <a:ext cx="7738777" cy="238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25"/>
              </a:lnSpc>
            </a:pPr>
            <a:r>
              <a:rPr lang="en-US" sz="3399" spc="57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Processo de escrever instruções que um computador pode executar para uma determinada tarefa.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10635" y="7247033"/>
            <a:ext cx="9058265" cy="238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25"/>
              </a:lnSpc>
            </a:pPr>
            <a:r>
              <a:rPr lang="en-US" sz="33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Instruções que controla o comportamento e as ações de um robô, por exemplo um braço articulado, locomoção, etc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44030" y="5885497"/>
            <a:ext cx="467592" cy="93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63840" y="406756"/>
            <a:ext cx="227971" cy="93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18580" y="-2636891"/>
            <a:ext cx="14942420" cy="14942420"/>
          </a:xfrm>
          <a:custGeom>
            <a:avLst/>
            <a:gdLst/>
            <a:ahLst/>
            <a:cxnLst/>
            <a:rect r="r" b="b" t="t" l="l"/>
            <a:pathLst>
              <a:path h="14942420" w="14942420">
                <a:moveTo>
                  <a:pt x="0" y="0"/>
                </a:moveTo>
                <a:lnTo>
                  <a:pt x="14942420" y="0"/>
                </a:lnTo>
                <a:lnTo>
                  <a:pt x="14942420" y="14942419"/>
                </a:lnTo>
                <a:lnTo>
                  <a:pt x="0" y="14942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92752" y="2644427"/>
            <a:ext cx="1774299" cy="1774299"/>
          </a:xfrm>
          <a:custGeom>
            <a:avLst/>
            <a:gdLst/>
            <a:ahLst/>
            <a:cxnLst/>
            <a:rect r="r" b="b" t="t" l="l"/>
            <a:pathLst>
              <a:path h="1774299" w="1774299">
                <a:moveTo>
                  <a:pt x="0" y="0"/>
                </a:moveTo>
                <a:lnTo>
                  <a:pt x="1774299" y="0"/>
                </a:lnTo>
                <a:lnTo>
                  <a:pt x="1774299" y="1774299"/>
                </a:lnTo>
                <a:lnTo>
                  <a:pt x="0" y="17742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591330" y="3535508"/>
            <a:ext cx="4731255" cy="195304"/>
            <a:chOff x="0" y="0"/>
            <a:chExt cx="4114622" cy="1698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14678" cy="169800"/>
            </a:xfrm>
            <a:custGeom>
              <a:avLst/>
              <a:gdLst/>
              <a:ahLst/>
              <a:cxnLst/>
              <a:rect r="r" b="b" t="t" l="l"/>
              <a:pathLst>
                <a:path h="169800" w="4114678">
                  <a:moveTo>
                    <a:pt x="0" y="0"/>
                  </a:moveTo>
                  <a:lnTo>
                    <a:pt x="0" y="169800"/>
                  </a:lnTo>
                  <a:lnTo>
                    <a:pt x="4114678" y="169800"/>
                  </a:lnTo>
                  <a:lnTo>
                    <a:pt x="4114678" y="0"/>
                  </a:lnTo>
                  <a:close/>
                </a:path>
              </a:pathLst>
            </a:custGeom>
            <a:solidFill>
              <a:srgbClr val="AE181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63503" y="-63503"/>
            <a:ext cx="6787334" cy="10413997"/>
            <a:chOff x="0" y="0"/>
            <a:chExt cx="6787337" cy="1041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6660392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6660392">
                  <a:moveTo>
                    <a:pt x="0" y="0"/>
                  </a:moveTo>
                  <a:lnTo>
                    <a:pt x="0" y="10287000"/>
                  </a:lnTo>
                  <a:lnTo>
                    <a:pt x="6660392" y="10287000"/>
                  </a:lnTo>
                  <a:lnTo>
                    <a:pt x="666039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29615" y="7187946"/>
              <a:ext cx="4114676" cy="169926"/>
            </a:xfrm>
            <a:custGeom>
              <a:avLst/>
              <a:gdLst/>
              <a:ahLst/>
              <a:cxnLst/>
              <a:rect r="r" b="b" t="t" l="l"/>
              <a:pathLst>
                <a:path h="169926" w="4114676">
                  <a:moveTo>
                    <a:pt x="0" y="169926"/>
                  </a:moveTo>
                  <a:lnTo>
                    <a:pt x="4114675" y="169926"/>
                  </a:lnTo>
                  <a:lnTo>
                    <a:pt x="4114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192752" y="2644427"/>
            <a:ext cx="1774299" cy="1774299"/>
            <a:chOff x="0" y="0"/>
            <a:chExt cx="1543050" cy="1543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43050" cy="1543050"/>
            </a:xfrm>
            <a:custGeom>
              <a:avLst/>
              <a:gdLst/>
              <a:ahLst/>
              <a:cxnLst/>
              <a:rect r="r" b="b" t="t" l="l"/>
              <a:pathLst>
                <a:path h="1543050" w="1543050">
                  <a:moveTo>
                    <a:pt x="0" y="1543050"/>
                  </a:moveTo>
                  <a:lnTo>
                    <a:pt x="1543050" y="1543050"/>
                  </a:lnTo>
                  <a:lnTo>
                    <a:pt x="15430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91341" y="3535508"/>
            <a:ext cx="4731255" cy="195304"/>
            <a:chOff x="0" y="0"/>
            <a:chExt cx="4114622" cy="1698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14679" cy="169800"/>
            </a:xfrm>
            <a:custGeom>
              <a:avLst/>
              <a:gdLst/>
              <a:ahLst/>
              <a:cxnLst/>
              <a:rect r="r" b="b" t="t" l="l"/>
              <a:pathLst>
                <a:path h="169800" w="4114679">
                  <a:moveTo>
                    <a:pt x="0" y="169800"/>
                  </a:moveTo>
                  <a:lnTo>
                    <a:pt x="4114679" y="169800"/>
                  </a:lnTo>
                  <a:lnTo>
                    <a:pt x="41146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977262" y="3041651"/>
            <a:ext cx="5140926" cy="771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7"/>
              </a:lnSpc>
            </a:pPr>
            <a:r>
              <a:rPr lang="en-US" sz="4497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Por que o Java?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62736" y="2883174"/>
            <a:ext cx="506387" cy="106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48"/>
              </a:lnSpc>
            </a:pPr>
            <a:r>
              <a:rPr lang="en-US" sz="5748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69123" y="4758118"/>
            <a:ext cx="9309691" cy="272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8"/>
              </a:lnSpc>
            </a:pPr>
            <a:r>
              <a:rPr lang="en-US" sz="3927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Bibliotecas e ferramentas robustas que ajudam a implementar aplicações mais avançadas.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5258" y="4661144"/>
            <a:ext cx="5320589" cy="107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INTRODUÇÃO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18580" y="-2636891"/>
            <a:ext cx="14942420" cy="14942420"/>
          </a:xfrm>
          <a:custGeom>
            <a:avLst/>
            <a:gdLst/>
            <a:ahLst/>
            <a:cxnLst/>
            <a:rect r="r" b="b" t="t" l="l"/>
            <a:pathLst>
              <a:path h="14942420" w="14942420">
                <a:moveTo>
                  <a:pt x="0" y="0"/>
                </a:moveTo>
                <a:lnTo>
                  <a:pt x="14942420" y="0"/>
                </a:lnTo>
                <a:lnTo>
                  <a:pt x="14942420" y="14942419"/>
                </a:lnTo>
                <a:lnTo>
                  <a:pt x="0" y="14942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60413" y="595976"/>
            <a:ext cx="1543050" cy="1543050"/>
          </a:xfrm>
          <a:custGeom>
            <a:avLst/>
            <a:gdLst/>
            <a:ahLst/>
            <a:cxnLst/>
            <a:rect r="r" b="b" t="t" l="l"/>
            <a:pathLst>
              <a:path h="1543050" w="1543050">
                <a:moveTo>
                  <a:pt x="0" y="0"/>
                </a:moveTo>
                <a:lnTo>
                  <a:pt x="1543050" y="0"/>
                </a:lnTo>
                <a:lnTo>
                  <a:pt x="154305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850992" y="1352957"/>
            <a:ext cx="6161408" cy="240392"/>
            <a:chOff x="0" y="0"/>
            <a:chExt cx="6161405" cy="240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61404" cy="240409"/>
            </a:xfrm>
            <a:custGeom>
              <a:avLst/>
              <a:gdLst/>
              <a:ahLst/>
              <a:cxnLst/>
              <a:rect r="r" b="b" t="t" l="l"/>
              <a:pathLst>
                <a:path h="240409" w="6161404">
                  <a:moveTo>
                    <a:pt x="0" y="0"/>
                  </a:moveTo>
                  <a:lnTo>
                    <a:pt x="0" y="240409"/>
                  </a:lnTo>
                  <a:lnTo>
                    <a:pt x="6161404" y="240409"/>
                  </a:lnTo>
                  <a:lnTo>
                    <a:pt x="6161404" y="0"/>
                  </a:lnTo>
                  <a:close/>
                </a:path>
              </a:pathLst>
            </a:custGeom>
            <a:solidFill>
              <a:srgbClr val="AE181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63503" y="-63503"/>
            <a:ext cx="6787334" cy="10413997"/>
            <a:chOff x="0" y="0"/>
            <a:chExt cx="6787337" cy="1041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6660392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6660392">
                  <a:moveTo>
                    <a:pt x="0" y="0"/>
                  </a:moveTo>
                  <a:lnTo>
                    <a:pt x="0" y="10287000"/>
                  </a:lnTo>
                  <a:lnTo>
                    <a:pt x="6660392" y="10287000"/>
                  </a:lnTo>
                  <a:lnTo>
                    <a:pt x="666039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29615" y="7187946"/>
              <a:ext cx="4114676" cy="169926"/>
            </a:xfrm>
            <a:custGeom>
              <a:avLst/>
              <a:gdLst/>
              <a:ahLst/>
              <a:cxnLst/>
              <a:rect r="r" b="b" t="t" l="l"/>
              <a:pathLst>
                <a:path h="169926" w="4114676">
                  <a:moveTo>
                    <a:pt x="0" y="169926"/>
                  </a:moveTo>
                  <a:lnTo>
                    <a:pt x="4114675" y="169926"/>
                  </a:lnTo>
                  <a:lnTo>
                    <a:pt x="4114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960413" y="595976"/>
            <a:ext cx="1543050" cy="1543050"/>
            <a:chOff x="0" y="0"/>
            <a:chExt cx="1543050" cy="1543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43050" cy="1543050"/>
            </a:xfrm>
            <a:custGeom>
              <a:avLst/>
              <a:gdLst/>
              <a:ahLst/>
              <a:cxnLst/>
              <a:rect r="r" b="b" t="t" l="l"/>
              <a:pathLst>
                <a:path h="1543050" w="1543050">
                  <a:moveTo>
                    <a:pt x="0" y="1543050"/>
                  </a:moveTo>
                  <a:lnTo>
                    <a:pt x="1543050" y="1543050"/>
                  </a:lnTo>
                  <a:lnTo>
                    <a:pt x="15430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50992" y="1352957"/>
            <a:ext cx="6161408" cy="240392"/>
            <a:chOff x="0" y="0"/>
            <a:chExt cx="6161405" cy="2403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61405" cy="240409"/>
            </a:xfrm>
            <a:custGeom>
              <a:avLst/>
              <a:gdLst/>
              <a:ahLst/>
              <a:cxnLst/>
              <a:rect r="r" b="b" t="t" l="l"/>
              <a:pathLst>
                <a:path h="240409" w="6161405">
                  <a:moveTo>
                    <a:pt x="0" y="240409"/>
                  </a:moveTo>
                  <a:lnTo>
                    <a:pt x="6161405" y="240409"/>
                  </a:lnTo>
                  <a:lnTo>
                    <a:pt x="6161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112562" y="6147468"/>
            <a:ext cx="2062877" cy="1962683"/>
            <a:chOff x="0" y="0"/>
            <a:chExt cx="2062874" cy="19626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1933446" cy="1835784"/>
            </a:xfrm>
            <a:custGeom>
              <a:avLst/>
              <a:gdLst/>
              <a:ahLst/>
              <a:cxnLst/>
              <a:rect r="r" b="b" t="t" l="l"/>
              <a:pathLst>
                <a:path h="1835784" w="1933446">
                  <a:moveTo>
                    <a:pt x="942593" y="596137"/>
                  </a:moveTo>
                  <a:lnTo>
                    <a:pt x="942593" y="1057401"/>
                  </a:lnTo>
                  <a:lnTo>
                    <a:pt x="637539" y="826261"/>
                  </a:lnTo>
                  <a:lnTo>
                    <a:pt x="942593" y="596137"/>
                  </a:lnTo>
                  <a:close/>
                  <a:moveTo>
                    <a:pt x="942593" y="282829"/>
                  </a:moveTo>
                  <a:lnTo>
                    <a:pt x="498474" y="722121"/>
                  </a:lnTo>
                  <a:lnTo>
                    <a:pt x="231140" y="520573"/>
                  </a:lnTo>
                  <a:lnTo>
                    <a:pt x="120904" y="557403"/>
                  </a:lnTo>
                  <a:lnTo>
                    <a:pt x="392811" y="826261"/>
                  </a:lnTo>
                  <a:lnTo>
                    <a:pt x="120904" y="1095247"/>
                  </a:lnTo>
                  <a:lnTo>
                    <a:pt x="231140" y="1132077"/>
                  </a:lnTo>
                  <a:lnTo>
                    <a:pt x="498474" y="930528"/>
                  </a:lnTo>
                  <a:lnTo>
                    <a:pt x="942593" y="1369567"/>
                  </a:lnTo>
                  <a:lnTo>
                    <a:pt x="1208404" y="1256918"/>
                  </a:lnTo>
                  <a:lnTo>
                    <a:pt x="1208404" y="395732"/>
                  </a:lnTo>
                  <a:lnTo>
                    <a:pt x="942593" y="282702"/>
                  </a:lnTo>
                  <a:close/>
                  <a:moveTo>
                    <a:pt x="1450212" y="0"/>
                  </a:moveTo>
                  <a:lnTo>
                    <a:pt x="1450212" y="1661667"/>
                  </a:lnTo>
                  <a:lnTo>
                    <a:pt x="0" y="1445386"/>
                  </a:lnTo>
                  <a:lnTo>
                    <a:pt x="1159382" y="1835784"/>
                  </a:lnTo>
                  <a:lnTo>
                    <a:pt x="1685288" y="1835784"/>
                  </a:lnTo>
                  <a:lnTo>
                    <a:pt x="1933446" y="1732406"/>
                  </a:lnTo>
                  <a:lnTo>
                    <a:pt x="1933446" y="200914"/>
                  </a:lnTo>
                  <a:lnTo>
                    <a:pt x="1450212" y="0"/>
                  </a:lnTo>
                  <a:close/>
                </a:path>
              </a:pathLst>
            </a:custGeom>
            <a:solidFill>
              <a:srgbClr val="007ACC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1935859" cy="1835657"/>
            </a:xfrm>
            <a:custGeom>
              <a:avLst/>
              <a:gdLst/>
              <a:ahLst/>
              <a:cxnLst/>
              <a:rect r="r" b="b" t="t" l="l"/>
              <a:pathLst>
                <a:path h="1835657" w="1935859">
                  <a:moveTo>
                    <a:pt x="0" y="0"/>
                  </a:moveTo>
                  <a:lnTo>
                    <a:pt x="0" y="1835657"/>
                  </a:lnTo>
                  <a:lnTo>
                    <a:pt x="1935859" y="1835657"/>
                  </a:lnTo>
                  <a:lnTo>
                    <a:pt x="193585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3296503" y="5980661"/>
            <a:ext cx="2296298" cy="2296298"/>
          </a:xfrm>
          <a:custGeom>
            <a:avLst/>
            <a:gdLst/>
            <a:ahLst/>
            <a:cxnLst/>
            <a:rect r="r" b="b" t="t" l="l"/>
            <a:pathLst>
              <a:path h="2296298" w="2296298">
                <a:moveTo>
                  <a:pt x="0" y="0"/>
                </a:moveTo>
                <a:lnTo>
                  <a:pt x="2296298" y="0"/>
                </a:lnTo>
                <a:lnTo>
                  <a:pt x="2296298" y="2296297"/>
                </a:lnTo>
                <a:lnTo>
                  <a:pt x="0" y="22962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687792" y="917179"/>
            <a:ext cx="7749480" cy="672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6"/>
              </a:lnSpc>
            </a:pPr>
            <a:r>
              <a:rPr lang="en-US" sz="3911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Quais as IDE’s utilizadas?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02666" y="802388"/>
            <a:ext cx="467592" cy="93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22807" y="2698606"/>
            <a:ext cx="9716412" cy="313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54"/>
              </a:lnSpc>
            </a:pPr>
            <a:r>
              <a:rPr lang="en-US" sz="44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Interface limpa, simples de usar, usa-se em qualquer sistema operacional, letras coloridas.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5258" y="4661144"/>
            <a:ext cx="5320589" cy="107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INTRODUÇÃO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0" y="8150979"/>
            <a:ext cx="2761853" cy="5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 strike="noStrike" u="none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VISUAL code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12400" y="8162658"/>
            <a:ext cx="1892945" cy="5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intellij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18580" y="-2636891"/>
            <a:ext cx="14942420" cy="14942420"/>
          </a:xfrm>
          <a:custGeom>
            <a:avLst/>
            <a:gdLst/>
            <a:ahLst/>
            <a:cxnLst/>
            <a:rect r="r" b="b" t="t" l="l"/>
            <a:pathLst>
              <a:path h="14942420" w="14942420">
                <a:moveTo>
                  <a:pt x="0" y="0"/>
                </a:moveTo>
                <a:lnTo>
                  <a:pt x="14942420" y="0"/>
                </a:lnTo>
                <a:lnTo>
                  <a:pt x="14942420" y="14942419"/>
                </a:lnTo>
                <a:lnTo>
                  <a:pt x="0" y="14942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88140" y="189198"/>
            <a:ext cx="1543050" cy="1543050"/>
          </a:xfrm>
          <a:custGeom>
            <a:avLst/>
            <a:gdLst/>
            <a:ahLst/>
            <a:cxnLst/>
            <a:rect r="r" b="b" t="t" l="l"/>
            <a:pathLst>
              <a:path h="1543050" w="1543050">
                <a:moveTo>
                  <a:pt x="0" y="0"/>
                </a:moveTo>
                <a:lnTo>
                  <a:pt x="1543050" y="0"/>
                </a:lnTo>
                <a:lnTo>
                  <a:pt x="154305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88140" y="5474013"/>
            <a:ext cx="1543050" cy="1543050"/>
          </a:xfrm>
          <a:custGeom>
            <a:avLst/>
            <a:gdLst/>
            <a:ahLst/>
            <a:cxnLst/>
            <a:rect r="r" b="b" t="t" l="l"/>
            <a:pathLst>
              <a:path h="1543050" w="1543050">
                <a:moveTo>
                  <a:pt x="0" y="0"/>
                </a:moveTo>
                <a:lnTo>
                  <a:pt x="1543050" y="0"/>
                </a:lnTo>
                <a:lnTo>
                  <a:pt x="154305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19726" y="4968935"/>
            <a:ext cx="8939574" cy="57150"/>
          </a:xfrm>
          <a:custGeom>
            <a:avLst/>
            <a:gdLst/>
            <a:ahLst/>
            <a:cxnLst/>
            <a:rect r="r" b="b" t="t" l="l"/>
            <a:pathLst>
              <a:path h="57150" w="8939574">
                <a:moveTo>
                  <a:pt x="0" y="0"/>
                </a:moveTo>
                <a:lnTo>
                  <a:pt x="8939574" y="0"/>
                </a:lnTo>
                <a:lnTo>
                  <a:pt x="8939574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214733" y="6125342"/>
            <a:ext cx="6161408" cy="240392"/>
            <a:chOff x="0" y="0"/>
            <a:chExt cx="6161405" cy="2403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61404" cy="240409"/>
            </a:xfrm>
            <a:custGeom>
              <a:avLst/>
              <a:gdLst/>
              <a:ahLst/>
              <a:cxnLst/>
              <a:rect r="r" b="b" t="t" l="l"/>
              <a:pathLst>
                <a:path h="240409" w="6161404">
                  <a:moveTo>
                    <a:pt x="0" y="0"/>
                  </a:moveTo>
                  <a:lnTo>
                    <a:pt x="0" y="240409"/>
                  </a:lnTo>
                  <a:lnTo>
                    <a:pt x="6161404" y="240409"/>
                  </a:lnTo>
                  <a:lnTo>
                    <a:pt x="6161404" y="0"/>
                  </a:lnTo>
                  <a:close/>
                </a:path>
              </a:pathLst>
            </a:custGeom>
            <a:solidFill>
              <a:srgbClr val="AE181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90056" y="1017680"/>
            <a:ext cx="4114619" cy="169850"/>
            <a:chOff x="0" y="0"/>
            <a:chExt cx="4114622" cy="169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678" cy="169800"/>
            </a:xfrm>
            <a:custGeom>
              <a:avLst/>
              <a:gdLst/>
              <a:ahLst/>
              <a:cxnLst/>
              <a:rect r="r" b="b" t="t" l="l"/>
              <a:pathLst>
                <a:path h="169800" w="4114678">
                  <a:moveTo>
                    <a:pt x="0" y="0"/>
                  </a:moveTo>
                  <a:lnTo>
                    <a:pt x="0" y="169800"/>
                  </a:lnTo>
                  <a:lnTo>
                    <a:pt x="4114678" y="169800"/>
                  </a:lnTo>
                  <a:lnTo>
                    <a:pt x="4114678" y="0"/>
                  </a:lnTo>
                  <a:close/>
                </a:path>
              </a:pathLst>
            </a:custGeom>
            <a:solidFill>
              <a:srgbClr val="AE181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01676" y="586540"/>
            <a:ext cx="3874790" cy="672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6"/>
              </a:lnSpc>
            </a:pPr>
            <a:r>
              <a:rPr lang="en-US" sz="3911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Setor de robô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47942" y="5660603"/>
            <a:ext cx="5067002" cy="672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6"/>
              </a:lnSpc>
            </a:pPr>
            <a:r>
              <a:rPr lang="en-US" sz="3911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Setor de Projetos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16511" y="5750841"/>
            <a:ext cx="458490" cy="95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43714" y="470414"/>
            <a:ext cx="458490" cy="95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1665573"/>
            <a:ext cx="7603112" cy="264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81"/>
              </a:lnSpc>
            </a:pPr>
            <a:r>
              <a:rPr lang="en-US" sz="37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Programação em java totalmente voltada para as bibliotecas de FTC ou FRC; Dá vida ao robô.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24950" y="6680059"/>
            <a:ext cx="8028451" cy="264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81"/>
              </a:lnSpc>
            </a:pPr>
            <a:r>
              <a:rPr lang="en-US" sz="37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Programação voltada a linguagem que melhor se adequa ao projeto escolhido para a temporada.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5258" y="4661144"/>
            <a:ext cx="5320589" cy="107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INTRODUÇÃO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4775" y="1115778"/>
            <a:ext cx="10458450" cy="339700"/>
            <a:chOff x="0" y="0"/>
            <a:chExt cx="10458450" cy="33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58450" cy="339727"/>
            </a:xfrm>
            <a:custGeom>
              <a:avLst/>
              <a:gdLst/>
              <a:ahLst/>
              <a:cxnLst/>
              <a:rect r="r" b="b" t="t" l="l"/>
              <a:pathLst>
                <a:path h="339727" w="10458450">
                  <a:moveTo>
                    <a:pt x="0" y="0"/>
                  </a:moveTo>
                  <a:lnTo>
                    <a:pt x="0" y="339727"/>
                  </a:lnTo>
                  <a:lnTo>
                    <a:pt x="10458450" y="339727"/>
                  </a:lnTo>
                  <a:lnTo>
                    <a:pt x="10458450" y="0"/>
                  </a:lnTo>
                  <a:close/>
                </a:path>
              </a:pathLst>
            </a:custGeom>
            <a:solidFill>
              <a:srgbClr val="AE181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571198" y="1897952"/>
            <a:ext cx="13144338" cy="7423852"/>
          </a:xfrm>
          <a:custGeom>
            <a:avLst/>
            <a:gdLst/>
            <a:ahLst/>
            <a:cxnLst/>
            <a:rect r="r" b="b" t="t" l="l"/>
            <a:pathLst>
              <a:path h="7423852" w="13144338">
                <a:moveTo>
                  <a:pt x="0" y="0"/>
                </a:moveTo>
                <a:lnTo>
                  <a:pt x="13144338" y="0"/>
                </a:lnTo>
                <a:lnTo>
                  <a:pt x="13144338" y="7423851"/>
                </a:lnTo>
                <a:lnTo>
                  <a:pt x="0" y="7423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576485" y="3434629"/>
            <a:ext cx="11128038" cy="5246370"/>
            <a:chOff x="0" y="0"/>
            <a:chExt cx="14837385" cy="6995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837411" cy="6995160"/>
            </a:xfrm>
            <a:custGeom>
              <a:avLst/>
              <a:gdLst/>
              <a:ahLst/>
              <a:cxnLst/>
              <a:rect r="r" b="b" t="t" l="l"/>
              <a:pathLst>
                <a:path h="6995160" w="14837411">
                  <a:moveTo>
                    <a:pt x="0" y="0"/>
                  </a:moveTo>
                  <a:lnTo>
                    <a:pt x="14837411" y="0"/>
                  </a:lnTo>
                  <a:lnTo>
                    <a:pt x="14837411" y="6995160"/>
                  </a:lnTo>
                  <a:lnTo>
                    <a:pt x="0" y="6995160"/>
                  </a:lnTo>
                  <a:lnTo>
                    <a:pt x="0" y="0"/>
                  </a:lnTo>
                  <a:close/>
                </a:path>
              </a:pathLst>
            </a:custGeom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561852" y="187700"/>
            <a:ext cx="3014786" cy="2132961"/>
          </a:xfrm>
          <a:custGeom>
            <a:avLst/>
            <a:gdLst/>
            <a:ahLst/>
            <a:cxnLst/>
            <a:rect r="r" b="b" t="t" l="l"/>
            <a:pathLst>
              <a:path h="2132961" w="3014786">
                <a:moveTo>
                  <a:pt x="0" y="0"/>
                </a:moveTo>
                <a:lnTo>
                  <a:pt x="3014786" y="0"/>
                </a:lnTo>
                <a:lnTo>
                  <a:pt x="3014786" y="2132961"/>
                </a:lnTo>
                <a:lnTo>
                  <a:pt x="0" y="21329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35860" y="2409968"/>
            <a:ext cx="189338" cy="721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3"/>
              </a:lnSpc>
            </a:pPr>
            <a:r>
              <a:rPr lang="en-US" sz="25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1 0 0 1 0 1 0 1 0 1 0 1 0 1 0 0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66460" y="2409968"/>
            <a:ext cx="189338" cy="721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3"/>
              </a:lnSpc>
            </a:pPr>
            <a:r>
              <a:rPr lang="en-US" sz="25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1 0 0 1 0 1 0 1 0 1 0 1 0 1 0 0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76638" y="428082"/>
            <a:ext cx="11357219" cy="136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9"/>
              </a:lnSpc>
            </a:pPr>
            <a:r>
              <a:rPr lang="en-US" sz="73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LOCOMOÇÃO DO ROBô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4775" y="1115778"/>
            <a:ext cx="10458450" cy="339700"/>
            <a:chOff x="0" y="0"/>
            <a:chExt cx="10458450" cy="33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58450" cy="339727"/>
            </a:xfrm>
            <a:custGeom>
              <a:avLst/>
              <a:gdLst/>
              <a:ahLst/>
              <a:cxnLst/>
              <a:rect r="r" b="b" t="t" l="l"/>
              <a:pathLst>
                <a:path h="339727" w="10458450">
                  <a:moveTo>
                    <a:pt x="0" y="0"/>
                  </a:moveTo>
                  <a:lnTo>
                    <a:pt x="0" y="339727"/>
                  </a:lnTo>
                  <a:lnTo>
                    <a:pt x="10458450" y="339727"/>
                  </a:lnTo>
                  <a:lnTo>
                    <a:pt x="10458450" y="0"/>
                  </a:lnTo>
                  <a:close/>
                </a:path>
              </a:pathLst>
            </a:custGeom>
            <a:solidFill>
              <a:srgbClr val="AE181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933975" y="2204105"/>
            <a:ext cx="7850124" cy="4433708"/>
          </a:xfrm>
          <a:custGeom>
            <a:avLst/>
            <a:gdLst/>
            <a:ahLst/>
            <a:cxnLst/>
            <a:rect r="r" b="b" t="t" l="l"/>
            <a:pathLst>
              <a:path h="4433708" w="7850124">
                <a:moveTo>
                  <a:pt x="0" y="0"/>
                </a:moveTo>
                <a:lnTo>
                  <a:pt x="7850124" y="0"/>
                </a:lnTo>
                <a:lnTo>
                  <a:pt x="7850124" y="4433708"/>
                </a:lnTo>
                <a:lnTo>
                  <a:pt x="0" y="4433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534358" y="3121847"/>
            <a:ext cx="6645940" cy="3133262"/>
            <a:chOff x="0" y="0"/>
            <a:chExt cx="14837385" cy="6995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837411" cy="6995160"/>
            </a:xfrm>
            <a:custGeom>
              <a:avLst/>
              <a:gdLst/>
              <a:ahLst/>
              <a:cxnLst/>
              <a:rect r="r" b="b" t="t" l="l"/>
              <a:pathLst>
                <a:path h="6995160" w="14837411">
                  <a:moveTo>
                    <a:pt x="0" y="0"/>
                  </a:moveTo>
                  <a:lnTo>
                    <a:pt x="14837411" y="0"/>
                  </a:lnTo>
                  <a:lnTo>
                    <a:pt x="14837411" y="6995160"/>
                  </a:lnTo>
                  <a:lnTo>
                    <a:pt x="0" y="6995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489" t="0" r="-10489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35860" y="2409968"/>
            <a:ext cx="189338" cy="721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3"/>
              </a:lnSpc>
            </a:pPr>
            <a:r>
              <a:rPr lang="en-US" sz="25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1 0 0 1 0 1 0 1 0 1 0 1 0 1 0 0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66460" y="2409968"/>
            <a:ext cx="189338" cy="721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3"/>
              </a:lnSpc>
            </a:pPr>
            <a:r>
              <a:rPr lang="en-US" sz="25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1 0 0 1 0 1 0 1 0 1 0 1 0 1 0 0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28447" y="428082"/>
            <a:ext cx="1255652" cy="136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9"/>
              </a:lnSpc>
            </a:pPr>
            <a:r>
              <a:rPr lang="en-US" sz="73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IA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115240" y="4688478"/>
            <a:ext cx="8564779" cy="4837341"/>
          </a:xfrm>
          <a:custGeom>
            <a:avLst/>
            <a:gdLst/>
            <a:ahLst/>
            <a:cxnLst/>
            <a:rect r="r" b="b" t="t" l="l"/>
            <a:pathLst>
              <a:path h="4837341" w="8564779">
                <a:moveTo>
                  <a:pt x="0" y="0"/>
                </a:moveTo>
                <a:lnTo>
                  <a:pt x="8564779" y="0"/>
                </a:lnTo>
                <a:lnTo>
                  <a:pt x="8564779" y="4837341"/>
                </a:lnTo>
                <a:lnTo>
                  <a:pt x="0" y="4837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770280" y="5689769"/>
            <a:ext cx="7250969" cy="3418506"/>
            <a:chOff x="0" y="0"/>
            <a:chExt cx="14837385" cy="6995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837411" cy="6995160"/>
            </a:xfrm>
            <a:custGeom>
              <a:avLst/>
              <a:gdLst/>
              <a:ahLst/>
              <a:cxnLst/>
              <a:rect r="r" b="b" t="t" l="l"/>
              <a:pathLst>
                <a:path h="6995160" w="14837411">
                  <a:moveTo>
                    <a:pt x="0" y="0"/>
                  </a:moveTo>
                  <a:lnTo>
                    <a:pt x="14837411" y="0"/>
                  </a:lnTo>
                  <a:lnTo>
                    <a:pt x="14837411" y="6995160"/>
                  </a:lnTo>
                  <a:lnTo>
                    <a:pt x="0" y="6995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7096" r="0" b="-214935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18580" y="-2636891"/>
            <a:ext cx="14942420" cy="14942420"/>
          </a:xfrm>
          <a:custGeom>
            <a:avLst/>
            <a:gdLst/>
            <a:ahLst/>
            <a:cxnLst/>
            <a:rect r="r" b="b" t="t" l="l"/>
            <a:pathLst>
              <a:path h="14942420" w="14942420">
                <a:moveTo>
                  <a:pt x="0" y="0"/>
                </a:moveTo>
                <a:lnTo>
                  <a:pt x="14942420" y="0"/>
                </a:lnTo>
                <a:lnTo>
                  <a:pt x="14942420" y="14942419"/>
                </a:lnTo>
                <a:lnTo>
                  <a:pt x="0" y="14942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23840" y="1539776"/>
            <a:ext cx="7517348" cy="497611"/>
            <a:chOff x="0" y="0"/>
            <a:chExt cx="5550090" cy="3673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5422770" cy="240410"/>
            </a:xfrm>
            <a:custGeom>
              <a:avLst/>
              <a:gdLst/>
              <a:ahLst/>
              <a:cxnLst/>
              <a:rect r="r" b="b" t="t" l="l"/>
              <a:pathLst>
                <a:path h="240410" w="5422770">
                  <a:moveTo>
                    <a:pt x="0" y="0"/>
                  </a:moveTo>
                  <a:lnTo>
                    <a:pt x="5422770" y="0"/>
                  </a:lnTo>
                  <a:lnTo>
                    <a:pt x="5422770" y="240409"/>
                  </a:lnTo>
                  <a:lnTo>
                    <a:pt x="0" y="240409"/>
                  </a:lnTo>
                  <a:close/>
                </a:path>
              </a:pathLst>
            </a:custGeom>
            <a:solidFill>
              <a:srgbClr val="AE181D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5423151" cy="240410"/>
            </a:xfrm>
            <a:custGeom>
              <a:avLst/>
              <a:gdLst/>
              <a:ahLst/>
              <a:cxnLst/>
              <a:rect r="r" b="b" t="t" l="l"/>
              <a:pathLst>
                <a:path h="240410" w="5423151">
                  <a:moveTo>
                    <a:pt x="0" y="240409"/>
                  </a:moveTo>
                  <a:lnTo>
                    <a:pt x="5423151" y="240409"/>
                  </a:lnTo>
                  <a:lnTo>
                    <a:pt x="5423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0211" y="4164959"/>
            <a:ext cx="6027553" cy="210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2"/>
              </a:lnSpc>
            </a:pPr>
            <a:r>
              <a:rPr lang="en-US" sz="57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LÓGICA DE PROGRAMAÇÃO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23993" y="1145335"/>
            <a:ext cx="8881521" cy="90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7"/>
              </a:lnSpc>
            </a:pPr>
            <a:r>
              <a:rPr lang="en-US" sz="5298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Conceito e Utilização: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30700" y="2363233"/>
            <a:ext cx="9828600" cy="6895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97"/>
              </a:lnSpc>
            </a:pPr>
            <a:r>
              <a:rPr lang="en-US" sz="3595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</a:t>
            </a:r>
            <a:r>
              <a:rPr lang="en-US" sz="3595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apacidade de organizar e estruturar instruções de forma lógica para resolver problemas ou realizar tarefas específicas. Ela envolve o desenvolvimento de sequências de passos a serem executados de forma organizada e eficiente.</a:t>
            </a:r>
          </a:p>
          <a:p>
            <a:pPr algn="just">
              <a:lnSpc>
                <a:spcPts val="4997"/>
              </a:lnSpc>
            </a:pPr>
            <a:r>
              <a:rPr lang="en-US" sz="3595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Como todas as tarefas no dia a dia podem ser interpretadas dessa forma, por exemplo jogar.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55086" y="-2573388"/>
            <a:ext cx="14815414" cy="14815414"/>
          </a:xfrm>
          <a:custGeom>
            <a:avLst/>
            <a:gdLst/>
            <a:ahLst/>
            <a:cxnLst/>
            <a:rect r="r" b="b" t="t" l="l"/>
            <a:pathLst>
              <a:path h="14815414" w="14815414">
                <a:moveTo>
                  <a:pt x="0" y="0"/>
                </a:moveTo>
                <a:lnTo>
                  <a:pt x="14815414" y="0"/>
                </a:lnTo>
                <a:lnTo>
                  <a:pt x="14815414" y="14815413"/>
                </a:lnTo>
                <a:lnTo>
                  <a:pt x="0" y="14815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4751" y="5786994"/>
            <a:ext cx="4067175" cy="4114800"/>
            <a:chOff x="0" y="0"/>
            <a:chExt cx="5422900" cy="548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229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22900">
                  <a:moveTo>
                    <a:pt x="0" y="0"/>
                  </a:moveTo>
                  <a:lnTo>
                    <a:pt x="5422900" y="0"/>
                  </a:lnTo>
                  <a:lnTo>
                    <a:pt x="54229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74751" y="4182189"/>
            <a:ext cx="5310826" cy="107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ALGORITMOS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36354" y="3318249"/>
            <a:ext cx="9116326" cy="5511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54"/>
              </a:lnSpc>
            </a:pPr>
            <a:r>
              <a:rPr lang="en-US" sz="44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É uma sequência de instruções ou comandos realizados de maneira sistemática com o objetivo de resolver um problema ou executar uma tarefa. Como sair com os amigos.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723840" y="1539776"/>
            <a:ext cx="7517348" cy="497611"/>
            <a:chOff x="0" y="0"/>
            <a:chExt cx="5550090" cy="3673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5422770" cy="240410"/>
            </a:xfrm>
            <a:custGeom>
              <a:avLst/>
              <a:gdLst/>
              <a:ahLst/>
              <a:cxnLst/>
              <a:rect r="r" b="b" t="t" l="l"/>
              <a:pathLst>
                <a:path h="240410" w="5422770">
                  <a:moveTo>
                    <a:pt x="0" y="0"/>
                  </a:moveTo>
                  <a:lnTo>
                    <a:pt x="5422770" y="0"/>
                  </a:lnTo>
                  <a:lnTo>
                    <a:pt x="5422770" y="240409"/>
                  </a:lnTo>
                  <a:lnTo>
                    <a:pt x="0" y="240409"/>
                  </a:lnTo>
                  <a:close/>
                </a:path>
              </a:pathLst>
            </a:custGeom>
            <a:solidFill>
              <a:srgbClr val="AE181D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5423151" cy="240410"/>
            </a:xfrm>
            <a:custGeom>
              <a:avLst/>
              <a:gdLst/>
              <a:ahLst/>
              <a:cxnLst/>
              <a:rect r="r" b="b" t="t" l="l"/>
              <a:pathLst>
                <a:path h="240410" w="5423151">
                  <a:moveTo>
                    <a:pt x="0" y="240409"/>
                  </a:moveTo>
                  <a:lnTo>
                    <a:pt x="5423151" y="240409"/>
                  </a:lnTo>
                  <a:lnTo>
                    <a:pt x="5423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223993" y="1145335"/>
            <a:ext cx="8881521" cy="90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7"/>
              </a:lnSpc>
            </a:pPr>
            <a:r>
              <a:rPr lang="en-US" sz="5298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Conceito e Utilização: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55086" y="-2573388"/>
            <a:ext cx="14815414" cy="14815414"/>
          </a:xfrm>
          <a:custGeom>
            <a:avLst/>
            <a:gdLst/>
            <a:ahLst/>
            <a:cxnLst/>
            <a:rect r="r" b="b" t="t" l="l"/>
            <a:pathLst>
              <a:path h="14815414" w="14815414">
                <a:moveTo>
                  <a:pt x="0" y="0"/>
                </a:moveTo>
                <a:lnTo>
                  <a:pt x="14815414" y="0"/>
                </a:lnTo>
                <a:lnTo>
                  <a:pt x="14815414" y="14815413"/>
                </a:lnTo>
                <a:lnTo>
                  <a:pt x="0" y="14815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04091" y="242735"/>
            <a:ext cx="1543050" cy="1543050"/>
          </a:xfrm>
          <a:custGeom>
            <a:avLst/>
            <a:gdLst/>
            <a:ahLst/>
            <a:cxnLst/>
            <a:rect r="r" b="b" t="t" l="l"/>
            <a:pathLst>
              <a:path h="1543050" w="1543050">
                <a:moveTo>
                  <a:pt x="0" y="0"/>
                </a:moveTo>
                <a:lnTo>
                  <a:pt x="1543050" y="0"/>
                </a:lnTo>
                <a:lnTo>
                  <a:pt x="154305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290056" y="865575"/>
            <a:ext cx="5422811" cy="240392"/>
            <a:chOff x="0" y="0"/>
            <a:chExt cx="5422811" cy="240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22777" cy="240409"/>
            </a:xfrm>
            <a:custGeom>
              <a:avLst/>
              <a:gdLst/>
              <a:ahLst/>
              <a:cxnLst/>
              <a:rect r="r" b="b" t="t" l="l"/>
              <a:pathLst>
                <a:path h="240409" w="5422777">
                  <a:moveTo>
                    <a:pt x="0" y="0"/>
                  </a:moveTo>
                  <a:lnTo>
                    <a:pt x="5422777" y="0"/>
                  </a:lnTo>
                  <a:lnTo>
                    <a:pt x="5422777" y="240409"/>
                  </a:lnTo>
                  <a:lnTo>
                    <a:pt x="0" y="240409"/>
                  </a:lnTo>
                  <a:close/>
                </a:path>
              </a:pathLst>
            </a:custGeom>
            <a:solidFill>
              <a:srgbClr val="AE181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0866" y="5498392"/>
            <a:ext cx="4067175" cy="4114800"/>
            <a:chOff x="0" y="0"/>
            <a:chExt cx="5422900" cy="548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229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22900">
                  <a:moveTo>
                    <a:pt x="0" y="0"/>
                  </a:moveTo>
                  <a:lnTo>
                    <a:pt x="5422900" y="0"/>
                  </a:lnTo>
                  <a:lnTo>
                    <a:pt x="54229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04091" y="3663105"/>
            <a:ext cx="1543050" cy="1543050"/>
          </a:xfrm>
          <a:custGeom>
            <a:avLst/>
            <a:gdLst/>
            <a:ahLst/>
            <a:cxnLst/>
            <a:rect r="r" b="b" t="t" l="l"/>
            <a:pathLst>
              <a:path h="1543050" w="1543050">
                <a:moveTo>
                  <a:pt x="0" y="0"/>
                </a:moveTo>
                <a:lnTo>
                  <a:pt x="1543050" y="0"/>
                </a:lnTo>
                <a:lnTo>
                  <a:pt x="154305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290056" y="4686662"/>
            <a:ext cx="5422802" cy="240392"/>
            <a:chOff x="0" y="0"/>
            <a:chExt cx="5422811" cy="2403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22778" cy="240409"/>
            </a:xfrm>
            <a:custGeom>
              <a:avLst/>
              <a:gdLst/>
              <a:ahLst/>
              <a:cxnLst/>
              <a:rect r="r" b="b" t="t" l="l"/>
              <a:pathLst>
                <a:path h="240409" w="5422778">
                  <a:moveTo>
                    <a:pt x="0" y="0"/>
                  </a:moveTo>
                  <a:lnTo>
                    <a:pt x="5422778" y="0"/>
                  </a:lnTo>
                  <a:lnTo>
                    <a:pt x="5422778" y="240409"/>
                  </a:lnTo>
                  <a:lnTo>
                    <a:pt x="0" y="240409"/>
                  </a:lnTo>
                  <a:close/>
                </a:path>
              </a:pathLst>
            </a:custGeom>
            <a:solidFill>
              <a:srgbClr val="AE181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369594" y="6116698"/>
            <a:ext cx="3200400" cy="3238500"/>
            <a:chOff x="0" y="0"/>
            <a:chExt cx="4267200" cy="431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672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4318000"/>
                  </a:lnTo>
                  <a:lnTo>
                    <a:pt x="0" y="431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204091" y="3663105"/>
            <a:ext cx="1543050" cy="1543050"/>
            <a:chOff x="0" y="0"/>
            <a:chExt cx="1543050" cy="1543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43050" cy="1543050"/>
            </a:xfrm>
            <a:custGeom>
              <a:avLst/>
              <a:gdLst/>
              <a:ahLst/>
              <a:cxnLst/>
              <a:rect r="r" b="b" t="t" l="l"/>
              <a:pathLst>
                <a:path h="1543050" w="1543050">
                  <a:moveTo>
                    <a:pt x="0" y="1543050"/>
                  </a:moveTo>
                  <a:lnTo>
                    <a:pt x="1543050" y="1543050"/>
                  </a:lnTo>
                  <a:lnTo>
                    <a:pt x="15430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290056" y="4686662"/>
            <a:ext cx="5423097" cy="240392"/>
            <a:chOff x="0" y="0"/>
            <a:chExt cx="5423090" cy="2403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23152" cy="240409"/>
            </a:xfrm>
            <a:custGeom>
              <a:avLst/>
              <a:gdLst/>
              <a:ahLst/>
              <a:cxnLst/>
              <a:rect r="r" b="b" t="t" l="l"/>
              <a:pathLst>
                <a:path h="240409" w="5423152">
                  <a:moveTo>
                    <a:pt x="0" y="240409"/>
                  </a:moveTo>
                  <a:lnTo>
                    <a:pt x="5423152" y="240409"/>
                  </a:lnTo>
                  <a:lnTo>
                    <a:pt x="54231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290066" y="865575"/>
            <a:ext cx="5423097" cy="240392"/>
            <a:chOff x="0" y="0"/>
            <a:chExt cx="5423090" cy="2403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23152" cy="240409"/>
            </a:xfrm>
            <a:custGeom>
              <a:avLst/>
              <a:gdLst/>
              <a:ahLst/>
              <a:cxnLst/>
              <a:rect r="r" b="b" t="t" l="l"/>
              <a:pathLst>
                <a:path h="240409" w="5423152">
                  <a:moveTo>
                    <a:pt x="0" y="240409"/>
                  </a:moveTo>
                  <a:lnTo>
                    <a:pt x="5423152" y="240409"/>
                  </a:lnTo>
                  <a:lnTo>
                    <a:pt x="54231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369594" y="6116698"/>
            <a:ext cx="3203953" cy="3240405"/>
            <a:chOff x="0" y="0"/>
            <a:chExt cx="3203956" cy="324040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03962" cy="3240405"/>
            </a:xfrm>
            <a:custGeom>
              <a:avLst/>
              <a:gdLst/>
              <a:ahLst/>
              <a:cxnLst/>
              <a:rect r="r" b="b" t="t" l="l"/>
              <a:pathLst>
                <a:path h="3240405" w="3203962">
                  <a:moveTo>
                    <a:pt x="0" y="3240405"/>
                  </a:moveTo>
                  <a:lnTo>
                    <a:pt x="3203962" y="3240405"/>
                  </a:lnTo>
                  <a:lnTo>
                    <a:pt x="32039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7919168" y="5926357"/>
            <a:ext cx="2741796" cy="3258870"/>
          </a:xfrm>
          <a:custGeom>
            <a:avLst/>
            <a:gdLst/>
            <a:ahLst/>
            <a:cxnLst/>
            <a:rect r="r" b="b" t="t" l="l"/>
            <a:pathLst>
              <a:path h="3258870" w="2741796">
                <a:moveTo>
                  <a:pt x="0" y="0"/>
                </a:moveTo>
                <a:lnTo>
                  <a:pt x="2741796" y="0"/>
                </a:lnTo>
                <a:lnTo>
                  <a:pt x="2741796" y="3258870"/>
                </a:lnTo>
                <a:lnTo>
                  <a:pt x="0" y="32588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863422" y="449256"/>
            <a:ext cx="223540" cy="95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46371" y="3875456"/>
            <a:ext cx="458490" cy="95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47895" y="4266829"/>
            <a:ext cx="5662414" cy="672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5"/>
              </a:lnSpc>
            </a:pPr>
            <a:r>
              <a:rPr lang="en-US" sz="3911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Como representá-lo?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90056" y="416885"/>
            <a:ext cx="7450535" cy="672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5"/>
              </a:lnSpc>
            </a:pPr>
            <a:r>
              <a:rPr lang="en-US" sz="3911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Como se faz um algoritmo?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8340" y="3969887"/>
            <a:ext cx="5310826" cy="107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ALGORITMOS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49121" y="9278722"/>
            <a:ext cx="2590502" cy="58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Fluxograma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94447" y="9278722"/>
            <a:ext cx="3108524" cy="58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Pseudocódigo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68650" y="1334609"/>
            <a:ext cx="6432848" cy="780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06" indent="-367003" lvl="1">
              <a:lnSpc>
                <a:spcPts val="6860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Identificar o problema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68650" y="2200623"/>
            <a:ext cx="7690650" cy="1647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06" indent="-367003" lvl="1">
              <a:lnSpc>
                <a:spcPts val="6860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Elaborar sequência lógica para resolver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18580" y="-2636891"/>
            <a:ext cx="14942420" cy="14942420"/>
          </a:xfrm>
          <a:custGeom>
            <a:avLst/>
            <a:gdLst/>
            <a:ahLst/>
            <a:cxnLst/>
            <a:rect r="r" b="b" t="t" l="l"/>
            <a:pathLst>
              <a:path h="14942420" w="14942420">
                <a:moveTo>
                  <a:pt x="0" y="0"/>
                </a:moveTo>
                <a:lnTo>
                  <a:pt x="14942420" y="0"/>
                </a:lnTo>
                <a:lnTo>
                  <a:pt x="14942420" y="14942419"/>
                </a:lnTo>
                <a:lnTo>
                  <a:pt x="0" y="14942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40588" y="179232"/>
            <a:ext cx="1670047" cy="1670047"/>
          </a:xfrm>
          <a:custGeom>
            <a:avLst/>
            <a:gdLst/>
            <a:ahLst/>
            <a:cxnLst/>
            <a:rect r="r" b="b" t="t" l="l"/>
            <a:pathLst>
              <a:path h="1670047" w="1670047">
                <a:moveTo>
                  <a:pt x="0" y="0"/>
                </a:moveTo>
                <a:lnTo>
                  <a:pt x="1670047" y="0"/>
                </a:lnTo>
                <a:lnTo>
                  <a:pt x="1670047" y="1670047"/>
                </a:lnTo>
                <a:lnTo>
                  <a:pt x="0" y="1670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40588" y="5661088"/>
            <a:ext cx="1670047" cy="1670047"/>
          </a:xfrm>
          <a:custGeom>
            <a:avLst/>
            <a:gdLst/>
            <a:ahLst/>
            <a:cxnLst/>
            <a:rect r="r" b="b" t="t" l="l"/>
            <a:pathLst>
              <a:path h="1670047" w="1670047">
                <a:moveTo>
                  <a:pt x="0" y="0"/>
                </a:moveTo>
                <a:lnTo>
                  <a:pt x="1670047" y="0"/>
                </a:lnTo>
                <a:lnTo>
                  <a:pt x="1670047" y="1670047"/>
                </a:lnTo>
                <a:lnTo>
                  <a:pt x="0" y="1670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56222" y="4713665"/>
            <a:ext cx="9066571" cy="184147"/>
          </a:xfrm>
          <a:custGeom>
            <a:avLst/>
            <a:gdLst/>
            <a:ahLst/>
            <a:cxnLst/>
            <a:rect r="r" b="b" t="t" l="l"/>
            <a:pathLst>
              <a:path h="184147" w="9066571">
                <a:moveTo>
                  <a:pt x="0" y="0"/>
                </a:moveTo>
                <a:lnTo>
                  <a:pt x="9066572" y="0"/>
                </a:lnTo>
                <a:lnTo>
                  <a:pt x="9066572" y="184147"/>
                </a:lnTo>
                <a:lnTo>
                  <a:pt x="0" y="1841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431722" y="5958935"/>
            <a:ext cx="5550094" cy="367389"/>
            <a:chOff x="0" y="0"/>
            <a:chExt cx="5550090" cy="3673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5422770" cy="240410"/>
            </a:xfrm>
            <a:custGeom>
              <a:avLst/>
              <a:gdLst/>
              <a:ahLst/>
              <a:cxnLst/>
              <a:rect r="r" b="b" t="t" l="l"/>
              <a:pathLst>
                <a:path h="240410" w="5422770">
                  <a:moveTo>
                    <a:pt x="0" y="0"/>
                  </a:moveTo>
                  <a:lnTo>
                    <a:pt x="5422770" y="0"/>
                  </a:lnTo>
                  <a:lnTo>
                    <a:pt x="5422770" y="240409"/>
                  </a:lnTo>
                  <a:lnTo>
                    <a:pt x="0" y="240409"/>
                  </a:lnTo>
                  <a:close/>
                </a:path>
              </a:pathLst>
            </a:custGeom>
            <a:solidFill>
              <a:srgbClr val="AE181D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5423151" cy="240410"/>
            </a:xfrm>
            <a:custGeom>
              <a:avLst/>
              <a:gdLst/>
              <a:ahLst/>
              <a:cxnLst/>
              <a:rect r="r" b="b" t="t" l="l"/>
              <a:pathLst>
                <a:path h="240410" w="5423151">
                  <a:moveTo>
                    <a:pt x="0" y="240409"/>
                  </a:moveTo>
                  <a:lnTo>
                    <a:pt x="5423151" y="240409"/>
                  </a:lnTo>
                  <a:lnTo>
                    <a:pt x="5423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431722" y="828513"/>
            <a:ext cx="5550094" cy="367389"/>
            <a:chOff x="0" y="0"/>
            <a:chExt cx="5550090" cy="3673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5422771" cy="240409"/>
            </a:xfrm>
            <a:custGeom>
              <a:avLst/>
              <a:gdLst/>
              <a:ahLst/>
              <a:cxnLst/>
              <a:rect r="r" b="b" t="t" l="l"/>
              <a:pathLst>
                <a:path h="240409" w="5422771">
                  <a:moveTo>
                    <a:pt x="0" y="0"/>
                  </a:moveTo>
                  <a:lnTo>
                    <a:pt x="5422771" y="0"/>
                  </a:lnTo>
                  <a:lnTo>
                    <a:pt x="5422771" y="240409"/>
                  </a:lnTo>
                  <a:lnTo>
                    <a:pt x="0" y="240409"/>
                  </a:lnTo>
                  <a:close/>
                </a:path>
              </a:pathLst>
            </a:custGeom>
            <a:solidFill>
              <a:srgbClr val="AE181D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5423152" cy="240409"/>
            </a:xfrm>
            <a:custGeom>
              <a:avLst/>
              <a:gdLst/>
              <a:ahLst/>
              <a:cxnLst/>
              <a:rect r="r" b="b" t="t" l="l"/>
              <a:pathLst>
                <a:path h="240409" w="5423152">
                  <a:moveTo>
                    <a:pt x="0" y="240409"/>
                  </a:moveTo>
                  <a:lnTo>
                    <a:pt x="5423152" y="240409"/>
                  </a:lnTo>
                  <a:lnTo>
                    <a:pt x="54231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704675" y="5942605"/>
            <a:ext cx="458490" cy="95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62885" y="523951"/>
            <a:ext cx="223540" cy="95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685" y="4727886"/>
            <a:ext cx="6435500" cy="107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PSEUDOCÓDIGO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91710" y="5584888"/>
            <a:ext cx="5365155" cy="672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6"/>
              </a:lnSpc>
            </a:pPr>
            <a:r>
              <a:rPr lang="en-US" sz="3911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Qual é o o</a:t>
            </a:r>
            <a:r>
              <a:rPr lang="en-US" sz="3911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bjetivo?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92018" y="454330"/>
            <a:ext cx="7153374" cy="672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6"/>
              </a:lnSpc>
            </a:pPr>
            <a:r>
              <a:rPr lang="en-US" sz="3911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Conceito de pseudocódigo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1615002"/>
            <a:ext cx="7142950" cy="238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25"/>
              </a:lnSpc>
            </a:pPr>
            <a:r>
              <a:rPr lang="en-US" sz="33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Maneira de representar os algoritmos usando uma linguagem simples e próxima da linguagem falada.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6746729"/>
            <a:ext cx="8630622" cy="298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25"/>
              </a:lnSpc>
            </a:pPr>
            <a:r>
              <a:rPr lang="en-US" sz="33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Torná-los aptos a estruturar um código em qualquer linguagem e desenvolver uma boa lógica e não só saber aplicar conceitos de estruturas e operadores.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18580" y="-2636891"/>
            <a:ext cx="14942420" cy="14942420"/>
          </a:xfrm>
          <a:custGeom>
            <a:avLst/>
            <a:gdLst/>
            <a:ahLst/>
            <a:cxnLst/>
            <a:rect r="r" b="b" t="t" l="l"/>
            <a:pathLst>
              <a:path h="14942420" w="14942420">
                <a:moveTo>
                  <a:pt x="0" y="0"/>
                </a:moveTo>
                <a:lnTo>
                  <a:pt x="14942420" y="0"/>
                </a:lnTo>
                <a:lnTo>
                  <a:pt x="14942420" y="14942419"/>
                </a:lnTo>
                <a:lnTo>
                  <a:pt x="0" y="14942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36162" y="8303400"/>
            <a:ext cx="8423138" cy="1661293"/>
            <a:chOff x="0" y="0"/>
            <a:chExt cx="8423142" cy="1661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4181" y="223648"/>
              <a:ext cx="8274750" cy="1374144"/>
            </a:xfrm>
            <a:custGeom>
              <a:avLst/>
              <a:gdLst/>
              <a:ahLst/>
              <a:cxnLst/>
              <a:rect r="r" b="b" t="t" l="l"/>
              <a:pathLst>
                <a:path h="1374144" w="8274750">
                  <a:moveTo>
                    <a:pt x="0" y="0"/>
                  </a:moveTo>
                  <a:lnTo>
                    <a:pt x="0" y="1374144"/>
                  </a:lnTo>
                  <a:lnTo>
                    <a:pt x="8274750" y="1374144"/>
                  </a:lnTo>
                  <a:lnTo>
                    <a:pt x="8274750" y="0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4181" y="63500"/>
              <a:ext cx="8087666" cy="1374144"/>
            </a:xfrm>
            <a:custGeom>
              <a:avLst/>
              <a:gdLst/>
              <a:ahLst/>
              <a:cxnLst/>
              <a:rect r="r" b="b" t="t" l="l"/>
              <a:pathLst>
                <a:path h="1374144" w="8087666">
                  <a:moveTo>
                    <a:pt x="0" y="0"/>
                  </a:moveTo>
                  <a:lnTo>
                    <a:pt x="0" y="1374145"/>
                  </a:lnTo>
                  <a:lnTo>
                    <a:pt x="8087666" y="1374145"/>
                  </a:lnTo>
                  <a:lnTo>
                    <a:pt x="8087666" y="0"/>
                  </a:lnTo>
                  <a:close/>
                </a:path>
              </a:pathLst>
            </a:custGeom>
            <a:solidFill>
              <a:srgbClr val="AE181D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4181" y="63500"/>
              <a:ext cx="8087666" cy="1374144"/>
            </a:xfrm>
            <a:custGeom>
              <a:avLst/>
              <a:gdLst/>
              <a:ahLst/>
              <a:cxnLst/>
              <a:rect r="r" b="b" t="t" l="l"/>
              <a:pathLst>
                <a:path h="1374144" w="8087666">
                  <a:moveTo>
                    <a:pt x="0" y="1374145"/>
                  </a:moveTo>
                  <a:lnTo>
                    <a:pt x="8087666" y="1374145"/>
                  </a:lnTo>
                  <a:lnTo>
                    <a:pt x="808766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4181" y="223648"/>
              <a:ext cx="8274750" cy="1374144"/>
            </a:xfrm>
            <a:custGeom>
              <a:avLst/>
              <a:gdLst/>
              <a:ahLst/>
              <a:cxnLst/>
              <a:rect r="r" b="b" t="t" l="l"/>
              <a:pathLst>
                <a:path h="1374144" w="8274750">
                  <a:moveTo>
                    <a:pt x="0" y="1374144"/>
                  </a:moveTo>
                  <a:lnTo>
                    <a:pt x="8274750" y="1374144"/>
                  </a:lnTo>
                  <a:lnTo>
                    <a:pt x="82747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54897" y="8804034"/>
            <a:ext cx="7790756" cy="420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8"/>
              </a:lnSpc>
            </a:pPr>
            <a:r>
              <a:rPr lang="en-US" sz="2556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Pseudocódigos são como receitas de bolo!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685" y="4587964"/>
            <a:ext cx="6435500" cy="107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PSEUDOCÓDIGO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940956"/>
            <a:ext cx="5617640" cy="108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24"/>
              </a:lnSpc>
            </a:pPr>
            <a:r>
              <a:rPr lang="en-US" sz="3199">
                <a:solidFill>
                  <a:srgbClr val="F58219"/>
                </a:solidFill>
                <a:latin typeface="Fira Code"/>
                <a:ea typeface="Fira Code"/>
                <a:cs typeface="Fira Code"/>
                <a:sym typeface="Fira Code"/>
              </a:rPr>
              <a:t>Processo IR_A_ESCOLA</a:t>
            </a:r>
            <a:r>
              <a:rPr lang="en-US" sz="3199">
                <a:solidFill>
                  <a:srgbClr val="FBE54D"/>
                </a:solidFill>
                <a:latin typeface="Fira Code"/>
                <a:ea typeface="Fira Code"/>
                <a:cs typeface="Fira Code"/>
                <a:sym typeface="Fira Code"/>
              </a:rPr>
              <a:t>{ </a:t>
            </a:r>
            <a:r>
              <a:rPr lang="en-US" sz="3199">
                <a:solidFill>
                  <a:srgbClr val="7ED957"/>
                </a:solidFill>
                <a:latin typeface="Fira Code"/>
                <a:ea typeface="Fira Code"/>
                <a:cs typeface="Fira Code"/>
                <a:sym typeface="Fira Code"/>
              </a:rPr>
              <a:t>se</a:t>
            </a:r>
            <a:r>
              <a:rPr lang="en-US" sz="31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 o despertador tocar: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2064906"/>
            <a:ext cx="107661" cy="112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24"/>
              </a:lnSpc>
            </a:pPr>
            <a:r>
              <a:rPr lang="en-US" sz="3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just">
              <a:lnSpc>
                <a:spcPts val="4424"/>
              </a:lnSpc>
            </a:pPr>
            <a:r>
              <a:rPr lang="en-US" sz="3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93966" y="2064906"/>
            <a:ext cx="7316903" cy="329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4"/>
              </a:lnSpc>
            </a:pPr>
            <a:r>
              <a:rPr lang="en-US" sz="31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abrir os olhos; </a:t>
            </a:r>
          </a:p>
          <a:p>
            <a:pPr algn="l">
              <a:lnSpc>
                <a:spcPts val="4424"/>
              </a:lnSpc>
            </a:pPr>
            <a:r>
              <a:rPr lang="en-US" sz="31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levantar da cama; </a:t>
            </a:r>
          </a:p>
          <a:p>
            <a:pPr algn="l">
              <a:lnSpc>
                <a:spcPts val="4424"/>
              </a:lnSpc>
            </a:pPr>
            <a:r>
              <a:rPr lang="en-US" sz="31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tomar banho; </a:t>
            </a:r>
          </a:p>
          <a:p>
            <a:pPr algn="l">
              <a:lnSpc>
                <a:spcPts val="4424"/>
              </a:lnSpc>
            </a:pPr>
            <a:r>
              <a:rPr lang="en-US" sz="31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vestir o uniforme; </a:t>
            </a:r>
          </a:p>
          <a:p>
            <a:pPr algn="l">
              <a:lnSpc>
                <a:spcPts val="4424"/>
              </a:lnSpc>
            </a:pPr>
            <a:r>
              <a:rPr lang="en-US" sz="31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tomar cafe da manhã; </a:t>
            </a:r>
          </a:p>
          <a:p>
            <a:pPr algn="l">
              <a:lnSpc>
                <a:spcPts val="4424"/>
              </a:lnSpc>
            </a:pPr>
            <a:r>
              <a:rPr lang="en-US" sz="31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ir para o carro;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3750831"/>
            <a:ext cx="107661" cy="561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4"/>
              </a:lnSpc>
            </a:pPr>
            <a:r>
              <a:rPr lang="en-US" sz="3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4874781"/>
            <a:ext cx="107661" cy="561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4"/>
              </a:lnSpc>
            </a:pPr>
            <a:r>
              <a:rPr lang="en-US" sz="3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5998731"/>
            <a:ext cx="1706662" cy="53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4"/>
              </a:lnSpc>
            </a:pPr>
            <a:r>
              <a:rPr lang="en-US" sz="3199">
                <a:solidFill>
                  <a:srgbClr val="7ED957"/>
                </a:solidFill>
                <a:latin typeface="Fira Code"/>
                <a:ea typeface="Fira Code"/>
                <a:cs typeface="Fira Code"/>
                <a:sym typeface="Fira Code"/>
              </a:rPr>
              <a:t>se não: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6560706"/>
            <a:ext cx="157039" cy="108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4"/>
              </a:lnSpc>
            </a:pPr>
            <a:r>
              <a:rPr lang="en-US" sz="31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</a:p>
          <a:p>
            <a:pPr algn="l">
              <a:lnSpc>
                <a:spcPts val="4424"/>
              </a:lnSpc>
            </a:pPr>
            <a:r>
              <a:rPr lang="en-US" sz="3199">
                <a:solidFill>
                  <a:srgbClr val="FBE54D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82930" y="6560706"/>
            <a:ext cx="4388446" cy="53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4"/>
              </a:lnSpc>
            </a:pPr>
            <a:r>
              <a:rPr lang="en-US" sz="31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continue dormindo;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60138" y="5557256"/>
            <a:ext cx="2650141" cy="74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exemplo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18580" y="-2636891"/>
            <a:ext cx="14942420" cy="14942420"/>
          </a:xfrm>
          <a:custGeom>
            <a:avLst/>
            <a:gdLst/>
            <a:ahLst/>
            <a:cxnLst/>
            <a:rect r="r" b="b" t="t" l="l"/>
            <a:pathLst>
              <a:path h="14942420" w="14942420">
                <a:moveTo>
                  <a:pt x="0" y="0"/>
                </a:moveTo>
                <a:lnTo>
                  <a:pt x="14942420" y="0"/>
                </a:lnTo>
                <a:lnTo>
                  <a:pt x="14942420" y="14942419"/>
                </a:lnTo>
                <a:lnTo>
                  <a:pt x="0" y="14942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40588" y="701907"/>
            <a:ext cx="1670047" cy="1670047"/>
          </a:xfrm>
          <a:custGeom>
            <a:avLst/>
            <a:gdLst/>
            <a:ahLst/>
            <a:cxnLst/>
            <a:rect r="r" b="b" t="t" l="l"/>
            <a:pathLst>
              <a:path h="1670047" w="1670047">
                <a:moveTo>
                  <a:pt x="0" y="0"/>
                </a:moveTo>
                <a:lnTo>
                  <a:pt x="1670047" y="0"/>
                </a:lnTo>
                <a:lnTo>
                  <a:pt x="1670047" y="1670047"/>
                </a:lnTo>
                <a:lnTo>
                  <a:pt x="0" y="1670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086326" y="1263053"/>
            <a:ext cx="5550094" cy="367389"/>
            <a:chOff x="0" y="0"/>
            <a:chExt cx="5550090" cy="367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5422771" cy="240409"/>
            </a:xfrm>
            <a:custGeom>
              <a:avLst/>
              <a:gdLst/>
              <a:ahLst/>
              <a:cxnLst/>
              <a:rect r="r" b="b" t="t" l="l"/>
              <a:pathLst>
                <a:path h="240409" w="5422771">
                  <a:moveTo>
                    <a:pt x="0" y="0"/>
                  </a:moveTo>
                  <a:lnTo>
                    <a:pt x="5422771" y="0"/>
                  </a:lnTo>
                  <a:lnTo>
                    <a:pt x="5422771" y="240409"/>
                  </a:lnTo>
                  <a:lnTo>
                    <a:pt x="0" y="240409"/>
                  </a:lnTo>
                  <a:close/>
                </a:path>
              </a:pathLst>
            </a:custGeom>
            <a:solidFill>
              <a:srgbClr val="AE181D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5423152" cy="240409"/>
            </a:xfrm>
            <a:custGeom>
              <a:avLst/>
              <a:gdLst/>
              <a:ahLst/>
              <a:cxnLst/>
              <a:rect r="r" b="b" t="t" l="l"/>
              <a:pathLst>
                <a:path h="240409" w="5423152">
                  <a:moveTo>
                    <a:pt x="0" y="240409"/>
                  </a:moveTo>
                  <a:lnTo>
                    <a:pt x="5423152" y="240409"/>
                  </a:lnTo>
                  <a:lnTo>
                    <a:pt x="54231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882824" y="5655605"/>
            <a:ext cx="5377901" cy="4241797"/>
            <a:chOff x="0" y="0"/>
            <a:chExt cx="5377904" cy="4241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5278" y="63500"/>
              <a:ext cx="5246263" cy="4114800"/>
            </a:xfrm>
            <a:custGeom>
              <a:avLst/>
              <a:gdLst/>
              <a:ahLst/>
              <a:cxnLst/>
              <a:rect r="r" b="b" t="t" l="l"/>
              <a:pathLst>
                <a:path h="4114800" w="5246263">
                  <a:moveTo>
                    <a:pt x="5165343" y="2624582"/>
                  </a:moveTo>
                  <a:lnTo>
                    <a:pt x="4583937" y="2624582"/>
                  </a:lnTo>
                  <a:lnTo>
                    <a:pt x="4583937" y="1969770"/>
                  </a:lnTo>
                  <a:cubicBezTo>
                    <a:pt x="4583937" y="1924685"/>
                    <a:pt x="4547233" y="1887855"/>
                    <a:pt x="4502022" y="1887855"/>
                  </a:cubicBezTo>
                  <a:lnTo>
                    <a:pt x="2705480" y="1887855"/>
                  </a:lnTo>
                  <a:lnTo>
                    <a:pt x="2705480" y="1314958"/>
                  </a:lnTo>
                  <a:lnTo>
                    <a:pt x="3673093" y="1314958"/>
                  </a:lnTo>
                  <a:cubicBezTo>
                    <a:pt x="3718178" y="1314958"/>
                    <a:pt x="3755008" y="1278255"/>
                    <a:pt x="3755008" y="1233043"/>
                  </a:cubicBezTo>
                  <a:lnTo>
                    <a:pt x="3755008" y="81915"/>
                  </a:lnTo>
                  <a:cubicBezTo>
                    <a:pt x="3755008" y="36830"/>
                    <a:pt x="3718305" y="0"/>
                    <a:pt x="3673093" y="0"/>
                  </a:cubicBezTo>
                  <a:lnTo>
                    <a:pt x="1573149" y="0"/>
                  </a:lnTo>
                  <a:cubicBezTo>
                    <a:pt x="1528064" y="0"/>
                    <a:pt x="1491234" y="36703"/>
                    <a:pt x="1491234" y="81915"/>
                  </a:cubicBezTo>
                  <a:lnTo>
                    <a:pt x="1491234" y="1232027"/>
                  </a:lnTo>
                  <a:cubicBezTo>
                    <a:pt x="1491234" y="1277112"/>
                    <a:pt x="1527937" y="1313942"/>
                    <a:pt x="1573149" y="1313942"/>
                  </a:cubicBezTo>
                  <a:lnTo>
                    <a:pt x="2540761" y="1313942"/>
                  </a:lnTo>
                  <a:lnTo>
                    <a:pt x="2540761" y="1886966"/>
                  </a:lnTo>
                  <a:lnTo>
                    <a:pt x="746252" y="1886966"/>
                  </a:lnTo>
                  <a:cubicBezTo>
                    <a:pt x="701167" y="1886966"/>
                    <a:pt x="664337" y="1923669"/>
                    <a:pt x="664337" y="1968881"/>
                  </a:cubicBezTo>
                  <a:lnTo>
                    <a:pt x="664337" y="2623693"/>
                  </a:lnTo>
                  <a:lnTo>
                    <a:pt x="81915" y="2623693"/>
                  </a:lnTo>
                  <a:cubicBezTo>
                    <a:pt x="36830" y="2623693"/>
                    <a:pt x="0" y="2660396"/>
                    <a:pt x="0" y="2705608"/>
                  </a:cubicBezTo>
                  <a:lnTo>
                    <a:pt x="0" y="4031869"/>
                  </a:lnTo>
                  <a:cubicBezTo>
                    <a:pt x="0" y="4076953"/>
                    <a:pt x="36703" y="4113784"/>
                    <a:pt x="81915" y="4113784"/>
                  </a:cubicBezTo>
                  <a:lnTo>
                    <a:pt x="1408430" y="4113784"/>
                  </a:lnTo>
                  <a:cubicBezTo>
                    <a:pt x="1453515" y="4113784"/>
                    <a:pt x="1490345" y="4077081"/>
                    <a:pt x="1490345" y="4031869"/>
                  </a:cubicBezTo>
                  <a:lnTo>
                    <a:pt x="1490345" y="2706497"/>
                  </a:lnTo>
                  <a:cubicBezTo>
                    <a:pt x="1490345" y="2661412"/>
                    <a:pt x="1453642" y="2624582"/>
                    <a:pt x="1408430" y="2624582"/>
                  </a:cubicBezTo>
                  <a:lnTo>
                    <a:pt x="828040" y="2624582"/>
                  </a:lnTo>
                  <a:lnTo>
                    <a:pt x="828040" y="2051685"/>
                  </a:lnTo>
                  <a:lnTo>
                    <a:pt x="2541777" y="2051685"/>
                  </a:lnTo>
                  <a:lnTo>
                    <a:pt x="2541777" y="2624709"/>
                  </a:lnTo>
                  <a:lnTo>
                    <a:pt x="1960372" y="2624709"/>
                  </a:lnTo>
                  <a:cubicBezTo>
                    <a:pt x="1915287" y="2624709"/>
                    <a:pt x="1878457" y="2661412"/>
                    <a:pt x="1878457" y="2706624"/>
                  </a:cubicBezTo>
                  <a:lnTo>
                    <a:pt x="1878457" y="4032884"/>
                  </a:lnTo>
                  <a:cubicBezTo>
                    <a:pt x="1878457" y="4077969"/>
                    <a:pt x="1915160" y="4114800"/>
                    <a:pt x="1960372" y="4114800"/>
                  </a:cubicBezTo>
                  <a:lnTo>
                    <a:pt x="3286886" y="4114800"/>
                  </a:lnTo>
                  <a:cubicBezTo>
                    <a:pt x="3331971" y="4114800"/>
                    <a:pt x="3368802" y="4078096"/>
                    <a:pt x="3368802" y="4032884"/>
                  </a:cubicBezTo>
                  <a:lnTo>
                    <a:pt x="3368802" y="2706497"/>
                  </a:lnTo>
                  <a:cubicBezTo>
                    <a:pt x="3368802" y="2661412"/>
                    <a:pt x="3332098" y="2624582"/>
                    <a:pt x="3286886" y="2624582"/>
                  </a:cubicBezTo>
                  <a:lnTo>
                    <a:pt x="2705480" y="2624582"/>
                  </a:lnTo>
                  <a:lnTo>
                    <a:pt x="2705480" y="2051685"/>
                  </a:lnTo>
                  <a:lnTo>
                    <a:pt x="4419218" y="2051685"/>
                  </a:lnTo>
                  <a:lnTo>
                    <a:pt x="4419218" y="2624709"/>
                  </a:lnTo>
                  <a:lnTo>
                    <a:pt x="3837812" y="2624709"/>
                  </a:lnTo>
                  <a:cubicBezTo>
                    <a:pt x="3792727" y="2624709"/>
                    <a:pt x="3755897" y="2661412"/>
                    <a:pt x="3755897" y="2706624"/>
                  </a:cubicBezTo>
                  <a:lnTo>
                    <a:pt x="3755897" y="4032884"/>
                  </a:lnTo>
                  <a:cubicBezTo>
                    <a:pt x="3755897" y="4077969"/>
                    <a:pt x="3792600" y="4114800"/>
                    <a:pt x="3837812" y="4114800"/>
                  </a:cubicBezTo>
                  <a:lnTo>
                    <a:pt x="5164327" y="4114800"/>
                  </a:lnTo>
                  <a:cubicBezTo>
                    <a:pt x="5209412" y="4114800"/>
                    <a:pt x="5246242" y="4078096"/>
                    <a:pt x="5246242" y="4032884"/>
                  </a:cubicBezTo>
                  <a:lnTo>
                    <a:pt x="5246242" y="2706497"/>
                  </a:lnTo>
                  <a:cubicBezTo>
                    <a:pt x="5247258" y="2661412"/>
                    <a:pt x="5210555" y="2624582"/>
                    <a:pt x="5165470" y="2624582"/>
                  </a:cubicBezTo>
                  <a:close/>
                  <a:moveTo>
                    <a:pt x="1656080" y="164719"/>
                  </a:moveTo>
                  <a:lnTo>
                    <a:pt x="3592194" y="164719"/>
                  </a:lnTo>
                  <a:lnTo>
                    <a:pt x="3592194" y="1150112"/>
                  </a:lnTo>
                  <a:lnTo>
                    <a:pt x="1656080" y="1150112"/>
                  </a:lnTo>
                  <a:lnTo>
                    <a:pt x="1656080" y="164719"/>
                  </a:lnTo>
                  <a:close/>
                  <a:moveTo>
                    <a:pt x="1326515" y="3951096"/>
                  </a:moveTo>
                  <a:lnTo>
                    <a:pt x="164846" y="3951096"/>
                  </a:lnTo>
                  <a:lnTo>
                    <a:pt x="164846" y="2789428"/>
                  </a:lnTo>
                  <a:lnTo>
                    <a:pt x="1327658" y="2789428"/>
                  </a:lnTo>
                  <a:lnTo>
                    <a:pt x="1327658" y="3951097"/>
                  </a:lnTo>
                  <a:lnTo>
                    <a:pt x="1326642" y="3951097"/>
                  </a:lnTo>
                  <a:close/>
                  <a:moveTo>
                    <a:pt x="3205098" y="3951097"/>
                  </a:moveTo>
                  <a:lnTo>
                    <a:pt x="2042287" y="3951097"/>
                  </a:lnTo>
                  <a:lnTo>
                    <a:pt x="2042287" y="2789428"/>
                  </a:lnTo>
                  <a:lnTo>
                    <a:pt x="3204971" y="2789428"/>
                  </a:lnTo>
                  <a:lnTo>
                    <a:pt x="3204971" y="3951097"/>
                  </a:lnTo>
                  <a:close/>
                  <a:moveTo>
                    <a:pt x="5082412" y="3951097"/>
                  </a:moveTo>
                  <a:lnTo>
                    <a:pt x="3920743" y="3951097"/>
                  </a:lnTo>
                  <a:lnTo>
                    <a:pt x="3920743" y="2789428"/>
                  </a:lnTo>
                  <a:lnTo>
                    <a:pt x="5083555" y="2789428"/>
                  </a:lnTo>
                  <a:lnTo>
                    <a:pt x="5083555" y="3951097"/>
                  </a:lnTo>
                  <a:lnTo>
                    <a:pt x="5082539" y="395109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5250941" cy="4114800"/>
            </a:xfrm>
            <a:custGeom>
              <a:avLst/>
              <a:gdLst/>
              <a:ahLst/>
              <a:cxnLst/>
              <a:rect r="r" b="b" t="t" l="l"/>
              <a:pathLst>
                <a:path h="4114800" w="5250941">
                  <a:moveTo>
                    <a:pt x="0" y="4114800"/>
                  </a:moveTo>
                  <a:lnTo>
                    <a:pt x="5250941" y="4114800"/>
                  </a:lnTo>
                  <a:lnTo>
                    <a:pt x="52509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144114" y="965949"/>
            <a:ext cx="6855321" cy="672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6"/>
              </a:lnSpc>
            </a:pPr>
            <a:r>
              <a:rPr lang="en-US" sz="3911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Conceito de fluxograma: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63841" y="957486"/>
            <a:ext cx="223540" cy="95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1963" y="4351963"/>
            <a:ext cx="5470103" cy="107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Fluxograma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76408" y="1822866"/>
            <a:ext cx="7767609" cy="358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25"/>
              </a:lnSpc>
            </a:pPr>
            <a:r>
              <a:rPr lang="en-US" sz="33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Outra forma de representar um processo por meio de algorítmos porém usando símbolos gráficos para representar as diferentes etapas do processo.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17386" y="-2196198"/>
            <a:ext cx="14942420" cy="14942420"/>
          </a:xfrm>
          <a:custGeom>
            <a:avLst/>
            <a:gdLst/>
            <a:ahLst/>
            <a:cxnLst/>
            <a:rect r="r" b="b" t="t" l="l"/>
            <a:pathLst>
              <a:path h="14942420" w="14942420">
                <a:moveTo>
                  <a:pt x="0" y="0"/>
                </a:moveTo>
                <a:lnTo>
                  <a:pt x="14942420" y="0"/>
                </a:lnTo>
                <a:lnTo>
                  <a:pt x="14942420" y="14942420"/>
                </a:lnTo>
                <a:lnTo>
                  <a:pt x="0" y="14942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25034" y="3197337"/>
            <a:ext cx="2642294" cy="7809942"/>
          </a:xfrm>
          <a:custGeom>
            <a:avLst/>
            <a:gdLst/>
            <a:ahLst/>
            <a:cxnLst/>
            <a:rect r="r" b="b" t="t" l="l"/>
            <a:pathLst>
              <a:path h="7809942" w="2642294">
                <a:moveTo>
                  <a:pt x="0" y="0"/>
                </a:moveTo>
                <a:lnTo>
                  <a:pt x="2642294" y="0"/>
                </a:lnTo>
                <a:lnTo>
                  <a:pt x="2642294" y="7809941"/>
                </a:lnTo>
                <a:lnTo>
                  <a:pt x="0" y="7809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686612" y="3197337"/>
            <a:ext cx="2642284" cy="7809942"/>
            <a:chOff x="0" y="0"/>
            <a:chExt cx="2349741" cy="69452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1223899"/>
              <a:ext cx="2222750" cy="5657849"/>
            </a:xfrm>
            <a:custGeom>
              <a:avLst/>
              <a:gdLst/>
              <a:ahLst/>
              <a:cxnLst/>
              <a:rect r="r" b="b" t="t" l="l"/>
              <a:pathLst>
                <a:path h="5657849" w="2222750">
                  <a:moveTo>
                    <a:pt x="0" y="0"/>
                  </a:moveTo>
                  <a:lnTo>
                    <a:pt x="0" y="5657849"/>
                  </a:lnTo>
                  <a:lnTo>
                    <a:pt x="2222750" y="5657849"/>
                  </a:lnTo>
                  <a:lnTo>
                    <a:pt x="2222750" y="0"/>
                  </a:lnTo>
                  <a:close/>
                </a:path>
              </a:pathLst>
            </a:custGeom>
            <a:solidFill>
              <a:srgbClr val="C8121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19632" y="1045083"/>
              <a:ext cx="1110486" cy="971677"/>
            </a:xfrm>
            <a:custGeom>
              <a:avLst/>
              <a:gdLst/>
              <a:ahLst/>
              <a:cxnLst/>
              <a:rect r="r" b="b" t="t" l="l"/>
              <a:pathLst>
                <a:path h="971677" w="1110486">
                  <a:moveTo>
                    <a:pt x="0" y="0"/>
                  </a:moveTo>
                  <a:lnTo>
                    <a:pt x="555243" y="971677"/>
                  </a:lnTo>
                  <a:lnTo>
                    <a:pt x="1110486" y="0"/>
                  </a:lnTo>
                  <a:close/>
                </a:path>
              </a:pathLst>
            </a:custGeom>
            <a:solidFill>
              <a:srgbClr val="AE181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5278" y="63500"/>
              <a:ext cx="2218559" cy="1467612"/>
            </a:xfrm>
            <a:custGeom>
              <a:avLst/>
              <a:gdLst/>
              <a:ahLst/>
              <a:cxnLst/>
              <a:rect r="r" b="b" t="t" l="l"/>
              <a:pathLst>
                <a:path h="1467612" w="2218559">
                  <a:moveTo>
                    <a:pt x="0" y="0"/>
                  </a:moveTo>
                  <a:lnTo>
                    <a:pt x="2218559" y="0"/>
                  </a:lnTo>
                  <a:lnTo>
                    <a:pt x="2218559" y="1467612"/>
                  </a:lnTo>
                  <a:lnTo>
                    <a:pt x="0" y="1467612"/>
                  </a:lnTo>
                  <a:close/>
                </a:path>
              </a:pathLst>
            </a:custGeom>
            <a:solidFill>
              <a:srgbClr val="AE181D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4084" y="166878"/>
              <a:ext cx="2023360" cy="1057021"/>
            </a:xfrm>
            <a:custGeom>
              <a:avLst/>
              <a:gdLst/>
              <a:ahLst/>
              <a:cxnLst/>
              <a:rect r="r" b="b" t="t" l="l"/>
              <a:pathLst>
                <a:path h="1057021" w="2023360">
                  <a:moveTo>
                    <a:pt x="1011680" y="0"/>
                  </a:moveTo>
                  <a:lnTo>
                    <a:pt x="0" y="528447"/>
                  </a:lnTo>
                  <a:lnTo>
                    <a:pt x="1011680" y="1057021"/>
                  </a:lnTo>
                  <a:lnTo>
                    <a:pt x="2023360" y="528447"/>
                  </a:lnTo>
                  <a:lnTo>
                    <a:pt x="101168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5278" y="63500"/>
              <a:ext cx="2220972" cy="1467612"/>
            </a:xfrm>
            <a:custGeom>
              <a:avLst/>
              <a:gdLst/>
              <a:ahLst/>
              <a:cxnLst/>
              <a:rect r="r" b="b" t="t" l="l"/>
              <a:pathLst>
                <a:path h="1467612" w="2220972">
                  <a:moveTo>
                    <a:pt x="0" y="1467612"/>
                  </a:moveTo>
                  <a:lnTo>
                    <a:pt x="2220972" y="1467612"/>
                  </a:lnTo>
                  <a:lnTo>
                    <a:pt x="22209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64084" y="166878"/>
              <a:ext cx="2023360" cy="1057021"/>
            </a:xfrm>
            <a:custGeom>
              <a:avLst/>
              <a:gdLst/>
              <a:ahLst/>
              <a:cxnLst/>
              <a:rect r="r" b="b" t="t" l="l"/>
              <a:pathLst>
                <a:path h="1057021" w="2023360">
                  <a:moveTo>
                    <a:pt x="0" y="1057021"/>
                  </a:moveTo>
                  <a:lnTo>
                    <a:pt x="2023360" y="1057021"/>
                  </a:lnTo>
                  <a:lnTo>
                    <a:pt x="20233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19632" y="1045210"/>
              <a:ext cx="1110486" cy="971677"/>
            </a:xfrm>
            <a:custGeom>
              <a:avLst/>
              <a:gdLst/>
              <a:ahLst/>
              <a:cxnLst/>
              <a:rect r="r" b="b" t="t" l="l"/>
              <a:pathLst>
                <a:path h="971677" w="1110486">
                  <a:moveTo>
                    <a:pt x="0" y="971677"/>
                  </a:moveTo>
                  <a:lnTo>
                    <a:pt x="1110486" y="971677"/>
                  </a:lnTo>
                  <a:lnTo>
                    <a:pt x="11104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1223899"/>
              <a:ext cx="2222750" cy="5657849"/>
            </a:xfrm>
            <a:custGeom>
              <a:avLst/>
              <a:gdLst/>
              <a:ahLst/>
              <a:cxnLst/>
              <a:rect r="r" b="b" t="t" l="l"/>
              <a:pathLst>
                <a:path h="5657849" w="2222750">
                  <a:moveTo>
                    <a:pt x="0" y="5657849"/>
                  </a:moveTo>
                  <a:lnTo>
                    <a:pt x="2222750" y="5657849"/>
                  </a:lnTo>
                  <a:lnTo>
                    <a:pt x="22227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548200" y="3197337"/>
            <a:ext cx="2644351" cy="7809942"/>
            <a:chOff x="0" y="0"/>
            <a:chExt cx="2351583" cy="69452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0" y="1223899"/>
              <a:ext cx="2222754" cy="5657849"/>
            </a:xfrm>
            <a:custGeom>
              <a:avLst/>
              <a:gdLst/>
              <a:ahLst/>
              <a:cxnLst/>
              <a:rect r="r" b="b" t="t" l="l"/>
              <a:pathLst>
                <a:path h="5657849" w="2222754">
                  <a:moveTo>
                    <a:pt x="0" y="0"/>
                  </a:moveTo>
                  <a:lnTo>
                    <a:pt x="0" y="5657849"/>
                  </a:lnTo>
                  <a:lnTo>
                    <a:pt x="2222754" y="5657849"/>
                  </a:lnTo>
                  <a:lnTo>
                    <a:pt x="2222754" y="0"/>
                  </a:lnTo>
                  <a:close/>
                </a:path>
              </a:pathLst>
            </a:custGeom>
            <a:solidFill>
              <a:srgbClr val="A8101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22300" y="1045083"/>
              <a:ext cx="1110488" cy="971677"/>
            </a:xfrm>
            <a:custGeom>
              <a:avLst/>
              <a:gdLst/>
              <a:ahLst/>
              <a:cxnLst/>
              <a:rect r="r" b="b" t="t" l="l"/>
              <a:pathLst>
                <a:path h="971677" w="1110488">
                  <a:moveTo>
                    <a:pt x="0" y="0"/>
                  </a:moveTo>
                  <a:lnTo>
                    <a:pt x="555244" y="971677"/>
                  </a:lnTo>
                  <a:lnTo>
                    <a:pt x="1110488" y="0"/>
                  </a:lnTo>
                  <a:close/>
                </a:path>
              </a:pathLst>
            </a:custGeom>
            <a:solidFill>
              <a:srgbClr val="751819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7183" y="63500"/>
              <a:ext cx="2218563" cy="1467612"/>
            </a:xfrm>
            <a:custGeom>
              <a:avLst/>
              <a:gdLst/>
              <a:ahLst/>
              <a:cxnLst/>
              <a:rect r="r" b="b" t="t" l="l"/>
              <a:pathLst>
                <a:path h="1467612" w="2218563">
                  <a:moveTo>
                    <a:pt x="0" y="0"/>
                  </a:moveTo>
                  <a:lnTo>
                    <a:pt x="2218563" y="0"/>
                  </a:lnTo>
                  <a:lnTo>
                    <a:pt x="2218563" y="1467612"/>
                  </a:lnTo>
                  <a:lnTo>
                    <a:pt x="0" y="1467612"/>
                  </a:lnTo>
                  <a:close/>
                </a:path>
              </a:pathLst>
            </a:custGeom>
            <a:solidFill>
              <a:srgbClr val="75181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32842" y="414274"/>
              <a:ext cx="2084070" cy="562229"/>
            </a:xfrm>
            <a:custGeom>
              <a:avLst/>
              <a:gdLst/>
              <a:ahLst/>
              <a:cxnLst/>
              <a:rect r="r" b="b" t="t" l="l"/>
              <a:pathLst>
                <a:path h="562229" w="2084070">
                  <a:moveTo>
                    <a:pt x="0" y="0"/>
                  </a:moveTo>
                  <a:lnTo>
                    <a:pt x="0" y="562229"/>
                  </a:lnTo>
                  <a:lnTo>
                    <a:pt x="2084070" y="562229"/>
                  </a:lnTo>
                  <a:lnTo>
                    <a:pt x="208407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7183" y="63500"/>
              <a:ext cx="2220849" cy="1467612"/>
            </a:xfrm>
            <a:custGeom>
              <a:avLst/>
              <a:gdLst/>
              <a:ahLst/>
              <a:cxnLst/>
              <a:rect r="r" b="b" t="t" l="l"/>
              <a:pathLst>
                <a:path h="1467612" w="2220849">
                  <a:moveTo>
                    <a:pt x="0" y="1467612"/>
                  </a:moveTo>
                  <a:lnTo>
                    <a:pt x="2220849" y="1467612"/>
                  </a:lnTo>
                  <a:lnTo>
                    <a:pt x="222084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32842" y="414274"/>
              <a:ext cx="2084070" cy="562229"/>
            </a:xfrm>
            <a:custGeom>
              <a:avLst/>
              <a:gdLst/>
              <a:ahLst/>
              <a:cxnLst/>
              <a:rect r="r" b="b" t="t" l="l"/>
              <a:pathLst>
                <a:path h="562229" w="2084070">
                  <a:moveTo>
                    <a:pt x="0" y="562229"/>
                  </a:moveTo>
                  <a:lnTo>
                    <a:pt x="2084070" y="562229"/>
                  </a:lnTo>
                  <a:lnTo>
                    <a:pt x="20840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22427" y="1045210"/>
              <a:ext cx="1110488" cy="971677"/>
            </a:xfrm>
            <a:custGeom>
              <a:avLst/>
              <a:gdLst/>
              <a:ahLst/>
              <a:cxnLst/>
              <a:rect r="r" b="b" t="t" l="l"/>
              <a:pathLst>
                <a:path h="971677" w="1110488">
                  <a:moveTo>
                    <a:pt x="0" y="971677"/>
                  </a:moveTo>
                  <a:lnTo>
                    <a:pt x="1110488" y="971677"/>
                  </a:lnTo>
                  <a:lnTo>
                    <a:pt x="11104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3500" y="1223899"/>
              <a:ext cx="2222754" cy="5657849"/>
            </a:xfrm>
            <a:custGeom>
              <a:avLst/>
              <a:gdLst/>
              <a:ahLst/>
              <a:cxnLst/>
              <a:rect r="r" b="b" t="t" l="l"/>
              <a:pathLst>
                <a:path h="5657849" w="2222754">
                  <a:moveTo>
                    <a:pt x="0" y="5657849"/>
                  </a:moveTo>
                  <a:lnTo>
                    <a:pt x="2222754" y="5657849"/>
                  </a:lnTo>
                  <a:lnTo>
                    <a:pt x="22227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5409778" y="3197337"/>
            <a:ext cx="2646418" cy="7809942"/>
          </a:xfrm>
          <a:custGeom>
            <a:avLst/>
            <a:gdLst/>
            <a:ahLst/>
            <a:cxnLst/>
            <a:rect r="r" b="b" t="t" l="l"/>
            <a:pathLst>
              <a:path h="7809942" w="2646418">
                <a:moveTo>
                  <a:pt x="0" y="0"/>
                </a:moveTo>
                <a:lnTo>
                  <a:pt x="2646418" y="0"/>
                </a:lnTo>
                <a:lnTo>
                  <a:pt x="2646418" y="7809941"/>
                </a:lnTo>
                <a:lnTo>
                  <a:pt x="0" y="7809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6825034" y="7526848"/>
            <a:ext cx="13000757" cy="4781718"/>
            <a:chOff x="0" y="0"/>
            <a:chExt cx="3424068" cy="12593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24068" cy="1259383"/>
            </a:xfrm>
            <a:custGeom>
              <a:avLst/>
              <a:gdLst/>
              <a:ahLst/>
              <a:cxnLst/>
              <a:rect r="r" b="b" t="t" l="l"/>
              <a:pathLst>
                <a:path h="1259383" w="3424068">
                  <a:moveTo>
                    <a:pt x="0" y="0"/>
                  </a:moveTo>
                  <a:lnTo>
                    <a:pt x="3424068" y="0"/>
                  </a:lnTo>
                  <a:lnTo>
                    <a:pt x="3424068" y="1259383"/>
                  </a:lnTo>
                  <a:lnTo>
                    <a:pt x="0" y="1259383"/>
                  </a:lnTo>
                  <a:close/>
                </a:path>
              </a:pathLst>
            </a:custGeom>
            <a:solidFill>
              <a:srgbClr val="52111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3424068" cy="1307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41963" y="4351963"/>
            <a:ext cx="5470103" cy="107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Fluxograma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06912" y="5247599"/>
            <a:ext cx="2925775" cy="74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Simbolos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61684" y="5760541"/>
            <a:ext cx="1804352" cy="132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58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Início ou fim de um processo.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69868" y="5760541"/>
            <a:ext cx="1913013" cy="132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sz="2589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Ponto de tomada de decisão.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50371" y="5752904"/>
            <a:ext cx="1925963" cy="132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sz="2589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Atividade para executar.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874393" y="6011207"/>
            <a:ext cx="1919857" cy="8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sz="2589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Direção do fluxo.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64193" y="1941604"/>
            <a:ext cx="14814127" cy="7772601"/>
            <a:chOff x="0" y="0"/>
            <a:chExt cx="3901663" cy="20471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663" cy="2047105"/>
            </a:xfrm>
            <a:custGeom>
              <a:avLst/>
              <a:gdLst/>
              <a:ahLst/>
              <a:cxnLst/>
              <a:rect r="r" b="b" t="t" l="l"/>
              <a:pathLst>
                <a:path h="2047105" w="3901663">
                  <a:moveTo>
                    <a:pt x="26653" y="0"/>
                  </a:moveTo>
                  <a:lnTo>
                    <a:pt x="3875010" y="0"/>
                  </a:lnTo>
                  <a:cubicBezTo>
                    <a:pt x="3889730" y="0"/>
                    <a:pt x="3901663" y="11933"/>
                    <a:pt x="3901663" y="26653"/>
                  </a:cubicBezTo>
                  <a:lnTo>
                    <a:pt x="3901663" y="2020452"/>
                  </a:lnTo>
                  <a:cubicBezTo>
                    <a:pt x="3901663" y="2035172"/>
                    <a:pt x="3889730" y="2047105"/>
                    <a:pt x="3875010" y="2047105"/>
                  </a:cubicBezTo>
                  <a:lnTo>
                    <a:pt x="26653" y="2047105"/>
                  </a:lnTo>
                  <a:cubicBezTo>
                    <a:pt x="11933" y="2047105"/>
                    <a:pt x="0" y="2035172"/>
                    <a:pt x="0" y="2020452"/>
                  </a:cubicBezTo>
                  <a:lnTo>
                    <a:pt x="0" y="26653"/>
                  </a:lnTo>
                  <a:cubicBezTo>
                    <a:pt x="0" y="11933"/>
                    <a:pt x="11933" y="0"/>
                    <a:pt x="26653" y="0"/>
                  </a:cubicBezTo>
                  <a:close/>
                </a:path>
              </a:pathLst>
            </a:custGeom>
            <a:solidFill>
              <a:srgbClr val="A8101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01663" cy="2085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44210" y="830894"/>
            <a:ext cx="10585447" cy="466696"/>
            <a:chOff x="0" y="0"/>
            <a:chExt cx="10585450" cy="466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0458450" cy="339726"/>
            </a:xfrm>
            <a:custGeom>
              <a:avLst/>
              <a:gdLst/>
              <a:ahLst/>
              <a:cxnLst/>
              <a:rect r="r" b="b" t="t" l="l"/>
              <a:pathLst>
                <a:path h="339726" w="10458450">
                  <a:moveTo>
                    <a:pt x="0" y="0"/>
                  </a:moveTo>
                  <a:lnTo>
                    <a:pt x="0" y="339727"/>
                  </a:lnTo>
                  <a:lnTo>
                    <a:pt x="10458450" y="339727"/>
                  </a:lnTo>
                  <a:lnTo>
                    <a:pt x="10458450" y="0"/>
                  </a:lnTo>
                  <a:close/>
                </a:path>
              </a:pathLst>
            </a:custGeom>
            <a:solidFill>
              <a:srgbClr val="AE181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0458450" cy="339726"/>
            </a:xfrm>
            <a:custGeom>
              <a:avLst/>
              <a:gdLst/>
              <a:ahLst/>
              <a:cxnLst/>
              <a:rect r="r" b="b" t="t" l="l"/>
              <a:pathLst>
                <a:path h="339726" w="10458450">
                  <a:moveTo>
                    <a:pt x="0" y="339727"/>
                  </a:moveTo>
                  <a:lnTo>
                    <a:pt x="10458450" y="339727"/>
                  </a:lnTo>
                  <a:lnTo>
                    <a:pt x="104584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962075" y="2118817"/>
            <a:ext cx="12623502" cy="7595387"/>
          </a:xfrm>
          <a:custGeom>
            <a:avLst/>
            <a:gdLst/>
            <a:ahLst/>
            <a:cxnLst/>
            <a:rect r="r" b="b" t="t" l="l"/>
            <a:pathLst>
              <a:path h="7595387" w="12623502">
                <a:moveTo>
                  <a:pt x="0" y="0"/>
                </a:moveTo>
                <a:lnTo>
                  <a:pt x="12623502" y="0"/>
                </a:lnTo>
                <a:lnTo>
                  <a:pt x="12623502" y="7595388"/>
                </a:lnTo>
                <a:lnTo>
                  <a:pt x="0" y="7595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722963" y="293713"/>
            <a:ext cx="6978891" cy="1366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Fluxograma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10127" y="2352742"/>
            <a:ext cx="820617" cy="45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8"/>
              </a:lnSpc>
            </a:pPr>
            <a:r>
              <a:rPr lang="en-US" sz="25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Início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81595" y="4148328"/>
            <a:ext cx="1947891" cy="89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4"/>
              </a:lnSpc>
            </a:pPr>
            <a:r>
              <a:rPr lang="en-US" sz="25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Despertador toca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97729" y="8534543"/>
            <a:ext cx="562604" cy="45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8"/>
              </a:lnSpc>
            </a:pPr>
            <a:r>
              <a:rPr lang="en-US" sz="25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12999" y="5697341"/>
            <a:ext cx="634622" cy="622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8"/>
              </a:lnSpc>
            </a:pPr>
            <a:r>
              <a:rPr lang="en-US" sz="25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76079" y="6381636"/>
            <a:ext cx="1537945" cy="107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8"/>
              </a:lnSpc>
            </a:pPr>
            <a:r>
              <a:rPr lang="en-US" sz="25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Continue</a:t>
            </a:r>
          </a:p>
          <a:p>
            <a:pPr algn="ctr">
              <a:lnSpc>
                <a:spcPts val="1661"/>
              </a:lnSpc>
            </a:pPr>
            <a:r>
              <a:rPr lang="en-US" sz="25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dormindo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94841" y="4193572"/>
            <a:ext cx="574253" cy="45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5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80221" y="4253036"/>
            <a:ext cx="2051275" cy="89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4"/>
              </a:lnSpc>
            </a:pPr>
            <a:r>
              <a:rPr lang="en-US" sz="25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Levantar e se arrumar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71256" y="8451085"/>
            <a:ext cx="1846650" cy="45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5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Assistir aula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47151" y="6179458"/>
            <a:ext cx="1789671" cy="89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4"/>
              </a:lnSpc>
            </a:pPr>
            <a:r>
              <a:rPr lang="en-US" sz="25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Dirigir até a escola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25892" y="4193572"/>
            <a:ext cx="2314508" cy="89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4"/>
              </a:lnSpc>
            </a:pPr>
            <a:r>
              <a:rPr lang="en-US" sz="25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Entrar no meio de transporte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39567" y="8339661"/>
            <a:ext cx="2490635" cy="45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5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Entrar na escola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9462" y="349193"/>
            <a:ext cx="17409077" cy="9588614"/>
            <a:chOff x="0" y="0"/>
            <a:chExt cx="23212102" cy="12784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12102" cy="12784819"/>
            </a:xfrm>
            <a:custGeom>
              <a:avLst/>
              <a:gdLst/>
              <a:ahLst/>
              <a:cxnLst/>
              <a:rect r="r" b="b" t="t" l="l"/>
              <a:pathLst>
                <a:path h="12784819" w="23212102">
                  <a:moveTo>
                    <a:pt x="0" y="0"/>
                  </a:moveTo>
                  <a:lnTo>
                    <a:pt x="23212102" y="0"/>
                  </a:lnTo>
                  <a:lnTo>
                    <a:pt x="23212102" y="12784819"/>
                  </a:lnTo>
                  <a:lnTo>
                    <a:pt x="0" y="127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11606051" y="2996151"/>
              <a:ext cx="11349947" cy="9425036"/>
              <a:chOff x="0" y="0"/>
              <a:chExt cx="2195566" cy="182320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195566" cy="1823206"/>
              </a:xfrm>
              <a:custGeom>
                <a:avLst/>
                <a:gdLst/>
                <a:ahLst/>
                <a:cxnLst/>
                <a:rect r="r" b="b" t="t" l="l"/>
                <a:pathLst>
                  <a:path h="1823206" w="2195566">
                    <a:moveTo>
                      <a:pt x="0" y="0"/>
                    </a:moveTo>
                    <a:lnTo>
                      <a:pt x="2195566" y="0"/>
                    </a:lnTo>
                    <a:lnTo>
                      <a:pt x="2195566" y="1823206"/>
                    </a:lnTo>
                    <a:lnTo>
                      <a:pt x="0" y="1823206"/>
                    </a:lnTo>
                    <a:close/>
                  </a:path>
                </a:pathLst>
              </a:custGeom>
              <a:solidFill>
                <a:srgbClr val="222121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2195566" cy="1870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53"/>
                  </a:lnSpc>
                </a:pPr>
              </a:p>
            </p:txBody>
          </p:sp>
        </p:grpSp>
      </p:grpSp>
      <p:sp>
        <p:nvSpPr>
          <p:cNvPr name="TextBox 7" id="7"/>
          <p:cNvSpPr txBox="true"/>
          <p:nvPr/>
        </p:nvSpPr>
        <p:spPr>
          <a:xfrm rot="0">
            <a:off x="5135414" y="1460172"/>
            <a:ext cx="8017173" cy="174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79"/>
              </a:lnSpc>
            </a:pPr>
            <a:r>
              <a:rPr lang="en-US" sz="91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Exercícios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95565" y="3699191"/>
            <a:ext cx="8050648" cy="5180088"/>
          </a:xfrm>
          <a:custGeom>
            <a:avLst/>
            <a:gdLst/>
            <a:ahLst/>
            <a:cxnLst/>
            <a:rect r="r" b="b" t="t" l="l"/>
            <a:pathLst>
              <a:path h="5180088" w="8050648">
                <a:moveTo>
                  <a:pt x="0" y="0"/>
                </a:moveTo>
                <a:lnTo>
                  <a:pt x="8050648" y="0"/>
                </a:lnTo>
                <a:lnTo>
                  <a:pt x="8050648" y="5180088"/>
                </a:lnTo>
                <a:lnTo>
                  <a:pt x="0" y="5180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78998" y="4644057"/>
            <a:ext cx="7283781" cy="4182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46"/>
              </a:lnSpc>
            </a:pPr>
            <a:r>
              <a:rPr lang="en-US" sz="3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Cada aluno deverá escrever em seu caderno um algoritmo sobre uma atividade do seu cotidiano e após isso, transformá-la em um fluxograma e em um </a:t>
            </a:r>
          </a:p>
          <a:p>
            <a:pPr algn="just">
              <a:lnSpc>
                <a:spcPts val="4746"/>
              </a:lnSpc>
            </a:pPr>
            <a:r>
              <a:rPr lang="en-US" sz="3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pseudo-código.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6487" y="3716325"/>
            <a:ext cx="2586687" cy="703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3"/>
              </a:lnSpc>
            </a:pPr>
            <a:r>
              <a:rPr lang="en-US" b="true" sz="407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Individual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41787" y="3204811"/>
            <a:ext cx="8050648" cy="5899427"/>
            <a:chOff x="0" y="0"/>
            <a:chExt cx="10734198" cy="78659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34198" cy="6906784"/>
            </a:xfrm>
            <a:custGeom>
              <a:avLst/>
              <a:gdLst/>
              <a:ahLst/>
              <a:cxnLst/>
              <a:rect r="r" b="b" t="t" l="l"/>
              <a:pathLst>
                <a:path h="6906784" w="10734198">
                  <a:moveTo>
                    <a:pt x="0" y="0"/>
                  </a:moveTo>
                  <a:lnTo>
                    <a:pt x="10734198" y="0"/>
                  </a:lnTo>
                  <a:lnTo>
                    <a:pt x="10734198" y="6906784"/>
                  </a:lnTo>
                  <a:lnTo>
                    <a:pt x="0" y="6906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3" id="13"/>
            <p:cNvGrpSpPr/>
            <p:nvPr/>
          </p:nvGrpSpPr>
          <p:grpSpPr>
            <a:xfrm rot="0">
              <a:off x="44717" y="4238700"/>
              <a:ext cx="10640983" cy="3627202"/>
              <a:chOff x="0" y="0"/>
              <a:chExt cx="2101923" cy="71648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101922" cy="716484"/>
              </a:xfrm>
              <a:custGeom>
                <a:avLst/>
                <a:gdLst/>
                <a:ahLst/>
                <a:cxnLst/>
                <a:rect r="r" b="b" t="t" l="l"/>
                <a:pathLst>
                  <a:path h="716484" w="2101922">
                    <a:moveTo>
                      <a:pt x="0" y="0"/>
                    </a:moveTo>
                    <a:lnTo>
                      <a:pt x="2101922" y="0"/>
                    </a:lnTo>
                    <a:lnTo>
                      <a:pt x="2101922" y="716484"/>
                    </a:lnTo>
                    <a:lnTo>
                      <a:pt x="0" y="716484"/>
                    </a:lnTo>
                    <a:close/>
                  </a:path>
                </a:pathLst>
              </a:custGeom>
              <a:solidFill>
                <a:srgbClr val="AE181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38125"/>
                <a:ext cx="2101923" cy="9546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74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974562" y="95346"/>
              <a:ext cx="3262972" cy="909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03"/>
                </a:lnSpc>
              </a:pPr>
              <a:r>
                <a:rPr lang="en-US" b="true" sz="4073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Em grupo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925220" y="4096637"/>
            <a:ext cx="7283781" cy="4782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46"/>
              </a:lnSpc>
            </a:pPr>
            <a:r>
              <a:rPr lang="en-US" sz="3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Cada equipe deverá escrever em um caderno um algoritmo sobre uma atividade correspondente com seu número e após isso, transformá-la em um fluxograma e em um </a:t>
            </a:r>
          </a:p>
          <a:p>
            <a:pPr algn="just">
              <a:lnSpc>
                <a:spcPts val="4746"/>
              </a:lnSpc>
            </a:pPr>
            <a:r>
              <a:rPr lang="en-US" sz="34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pseudo-código.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9829" y="2634235"/>
            <a:ext cx="3876905" cy="2561954"/>
          </a:xfrm>
          <a:custGeom>
            <a:avLst/>
            <a:gdLst/>
            <a:ahLst/>
            <a:cxnLst/>
            <a:rect r="r" b="b" t="t" l="l"/>
            <a:pathLst>
              <a:path h="2561954" w="3876905">
                <a:moveTo>
                  <a:pt x="0" y="0"/>
                </a:moveTo>
                <a:lnTo>
                  <a:pt x="3876905" y="0"/>
                </a:lnTo>
                <a:lnTo>
                  <a:pt x="3876905" y="2561954"/>
                </a:lnTo>
                <a:lnTo>
                  <a:pt x="0" y="2561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351" t="0" r="-135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3506" y="3110362"/>
            <a:ext cx="3496281" cy="1889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63"/>
              </a:lnSpc>
              <a:spcBef>
                <a:spcPct val="0"/>
              </a:spcBef>
            </a:pPr>
            <a:r>
              <a:rPr lang="en-US" b="true" sz="2204" strike="noStrike" u="non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EQUIPE 1: </a:t>
            </a:r>
          </a:p>
          <a:p>
            <a:pPr algn="ctr" marL="0" indent="0" lvl="0">
              <a:lnSpc>
                <a:spcPts val="3063"/>
              </a:lnSpc>
              <a:spcBef>
                <a:spcPct val="0"/>
              </a:spcBef>
            </a:pPr>
            <a:r>
              <a:rPr lang="en-US" sz="2204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“Como calcular a tabuada de um número informado pelo usuário?”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972119" y="2634235"/>
            <a:ext cx="4039158" cy="2599478"/>
          </a:xfrm>
          <a:custGeom>
            <a:avLst/>
            <a:gdLst/>
            <a:ahLst/>
            <a:cxnLst/>
            <a:rect r="r" b="b" t="t" l="l"/>
            <a:pathLst>
              <a:path h="2599478" w="4039158">
                <a:moveTo>
                  <a:pt x="0" y="0"/>
                </a:moveTo>
                <a:lnTo>
                  <a:pt x="4039158" y="0"/>
                </a:lnTo>
                <a:lnTo>
                  <a:pt x="4039158" y="2599478"/>
                </a:lnTo>
                <a:lnTo>
                  <a:pt x="0" y="2599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" t="0" r="-1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00716" y="3074352"/>
            <a:ext cx="3981963" cy="2104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  <a:spcBef>
                <a:spcPct val="0"/>
              </a:spcBef>
            </a:pPr>
            <a:r>
              <a:rPr lang="en-US" b="true" sz="2004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EQUIPE 2</a:t>
            </a:r>
          </a:p>
          <a:p>
            <a:pPr algn="ctr">
              <a:lnSpc>
                <a:spcPts val="2785"/>
              </a:lnSpc>
              <a:spcBef>
                <a:spcPct val="0"/>
              </a:spcBef>
            </a:pPr>
            <a:r>
              <a:rPr lang="en-US" sz="2004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“Como calcular o valor total de uma compra aplicando desconto de 10% se o valor for maior que R$100?”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396667" y="2634235"/>
            <a:ext cx="3940341" cy="2561954"/>
          </a:xfrm>
          <a:custGeom>
            <a:avLst/>
            <a:gdLst/>
            <a:ahLst/>
            <a:cxnLst/>
            <a:rect r="r" b="b" t="t" l="l"/>
            <a:pathLst>
              <a:path h="2561954" w="3940341">
                <a:moveTo>
                  <a:pt x="0" y="0"/>
                </a:moveTo>
                <a:lnTo>
                  <a:pt x="3940340" y="0"/>
                </a:lnTo>
                <a:lnTo>
                  <a:pt x="3940340" y="2561954"/>
                </a:lnTo>
                <a:lnTo>
                  <a:pt x="0" y="2561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4" t="0" r="-52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664658" y="3433035"/>
            <a:ext cx="3404358" cy="1127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63"/>
              </a:lnSpc>
              <a:spcBef>
                <a:spcPct val="0"/>
              </a:spcBef>
            </a:pPr>
            <a:r>
              <a:rPr lang="en-US" b="true" sz="2204" strike="noStrike" u="non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EQUIPE 3: </a:t>
            </a:r>
          </a:p>
          <a:p>
            <a:pPr algn="ctr" marL="0" indent="0" lvl="0">
              <a:lnSpc>
                <a:spcPts val="3063"/>
              </a:lnSpc>
              <a:spcBef>
                <a:spcPct val="0"/>
              </a:spcBef>
            </a:pPr>
            <a:r>
              <a:rPr lang="en-US" sz="2204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“Como preparar um miojo?”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794207" y="2634235"/>
            <a:ext cx="3980852" cy="2561954"/>
          </a:xfrm>
          <a:custGeom>
            <a:avLst/>
            <a:gdLst/>
            <a:ahLst/>
            <a:cxnLst/>
            <a:rect r="r" b="b" t="t" l="l"/>
            <a:pathLst>
              <a:path h="2561954" w="3980852">
                <a:moveTo>
                  <a:pt x="0" y="0"/>
                </a:moveTo>
                <a:lnTo>
                  <a:pt x="3980852" y="0"/>
                </a:lnTo>
                <a:lnTo>
                  <a:pt x="3980852" y="2561954"/>
                </a:lnTo>
                <a:lnTo>
                  <a:pt x="0" y="2561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" t="0" r="-1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064954" y="3350968"/>
            <a:ext cx="3439358" cy="1127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63"/>
              </a:lnSpc>
              <a:spcBef>
                <a:spcPct val="0"/>
              </a:spcBef>
            </a:pPr>
            <a:r>
              <a:rPr lang="en-US" b="true" sz="2204" strike="noStrike" u="non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EQUIPE 4:</a:t>
            </a:r>
          </a:p>
          <a:p>
            <a:pPr algn="ctr" marL="0" indent="0" lvl="0">
              <a:lnSpc>
                <a:spcPts val="3063"/>
              </a:lnSpc>
              <a:spcBef>
                <a:spcPct val="0"/>
              </a:spcBef>
            </a:pPr>
            <a:r>
              <a:rPr lang="en-US" sz="2204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“Como determinar se um número é primo?”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84366" y="5693120"/>
            <a:ext cx="3980852" cy="2561429"/>
          </a:xfrm>
          <a:custGeom>
            <a:avLst/>
            <a:gdLst/>
            <a:ahLst/>
            <a:cxnLst/>
            <a:rect r="r" b="b" t="t" l="l"/>
            <a:pathLst>
              <a:path h="2561429" w="3980852">
                <a:moveTo>
                  <a:pt x="0" y="0"/>
                </a:moveTo>
                <a:lnTo>
                  <a:pt x="3980852" y="0"/>
                </a:lnTo>
                <a:lnTo>
                  <a:pt x="3980852" y="2561429"/>
                </a:lnTo>
                <a:lnTo>
                  <a:pt x="0" y="2561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91968" y="6292811"/>
            <a:ext cx="3439358" cy="1509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7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EQUIPE 5:</a:t>
            </a:r>
            <a:r>
              <a:rPr lang="en-US" sz="21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</a:p>
          <a:p>
            <a:pPr algn="ctr">
              <a:lnSpc>
                <a:spcPts val="3057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“Como saber se um número é par ou ímpar?” 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356156" y="5693120"/>
            <a:ext cx="3980852" cy="2561429"/>
          </a:xfrm>
          <a:custGeom>
            <a:avLst/>
            <a:gdLst/>
            <a:ahLst/>
            <a:cxnLst/>
            <a:rect r="r" b="b" t="t" l="l"/>
            <a:pathLst>
              <a:path h="2561429" w="3980852">
                <a:moveTo>
                  <a:pt x="0" y="0"/>
                </a:moveTo>
                <a:lnTo>
                  <a:pt x="3980851" y="0"/>
                </a:lnTo>
                <a:lnTo>
                  <a:pt x="3980851" y="2561429"/>
                </a:lnTo>
                <a:lnTo>
                  <a:pt x="0" y="2561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822782" y="5693120"/>
            <a:ext cx="3980852" cy="2561429"/>
          </a:xfrm>
          <a:custGeom>
            <a:avLst/>
            <a:gdLst/>
            <a:ahLst/>
            <a:cxnLst/>
            <a:rect r="r" b="b" t="t" l="l"/>
            <a:pathLst>
              <a:path h="2561429" w="3980852">
                <a:moveTo>
                  <a:pt x="0" y="0"/>
                </a:moveTo>
                <a:lnTo>
                  <a:pt x="3980852" y="0"/>
                </a:lnTo>
                <a:lnTo>
                  <a:pt x="3980852" y="2561429"/>
                </a:lnTo>
                <a:lnTo>
                  <a:pt x="0" y="2561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051382" y="6263062"/>
            <a:ext cx="3711522" cy="1509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7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EQUIPE 8: </a:t>
            </a:r>
          </a:p>
          <a:p>
            <a:pPr algn="ctr" marL="0" indent="0" lvl="0">
              <a:lnSpc>
                <a:spcPts val="3057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“Como saber se um número é par ou ímpar?”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77857" y="6263062"/>
            <a:ext cx="3737448" cy="1508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63"/>
              </a:lnSpc>
              <a:spcBef>
                <a:spcPct val="0"/>
              </a:spcBef>
            </a:pPr>
            <a:r>
              <a:rPr lang="en-US" b="true" sz="2204" strike="noStrike" u="non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EQUIPE 7:</a:t>
            </a:r>
          </a:p>
          <a:p>
            <a:pPr algn="ctr" marL="0" indent="0" lvl="0">
              <a:lnSpc>
                <a:spcPts val="3063"/>
              </a:lnSpc>
              <a:spcBef>
                <a:spcPct val="0"/>
              </a:spcBef>
            </a:pPr>
            <a:r>
              <a:rPr lang="en-US" sz="2204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“Como converter uma temperatura de Celsius para Fahrenheit?”</a:t>
            </a:r>
            <a:r>
              <a:rPr lang="en-US" sz="2204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972119" y="5641359"/>
            <a:ext cx="4039158" cy="2613190"/>
          </a:xfrm>
          <a:custGeom>
            <a:avLst/>
            <a:gdLst/>
            <a:ahLst/>
            <a:cxnLst/>
            <a:rect r="r" b="b" t="t" l="l"/>
            <a:pathLst>
              <a:path h="2613190" w="4039158">
                <a:moveTo>
                  <a:pt x="0" y="0"/>
                </a:moveTo>
                <a:lnTo>
                  <a:pt x="4039158" y="0"/>
                </a:lnTo>
                <a:lnTo>
                  <a:pt x="4039158" y="2613190"/>
                </a:lnTo>
                <a:lnTo>
                  <a:pt x="0" y="2613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4" t="0" r="-274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911565" y="6102363"/>
            <a:ext cx="4160266" cy="1889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63"/>
              </a:lnSpc>
              <a:spcBef>
                <a:spcPct val="0"/>
              </a:spcBef>
            </a:pPr>
            <a:r>
              <a:rPr lang="en-US" b="true" sz="2204" strike="noStrike" u="non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EQUIPE 6:</a:t>
            </a:r>
          </a:p>
          <a:p>
            <a:pPr algn="ctr" marL="0" indent="0" lvl="0">
              <a:lnSpc>
                <a:spcPts val="3063"/>
              </a:lnSpc>
              <a:spcBef>
                <a:spcPct val="0"/>
              </a:spcBef>
            </a:pPr>
            <a:r>
              <a:rPr lang="en-US" sz="2204" strike="noStrike" u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“Como determinar o antecessor e o sucessor de um número informado pelo usuário?”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35414" y="591427"/>
            <a:ext cx="8017173" cy="174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79"/>
              </a:lnSpc>
            </a:pPr>
            <a:r>
              <a:rPr lang="en-US" sz="919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Exercícios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DAHCQRRSEIA</dc:identifier>
  <dcterms:modified xsi:type="dcterms:W3CDTF">2011-08-01T06:04:30Z</dcterms:modified>
  <cp:revision>1</cp:revision>
  <dc:title>Curso de programação - Aula Inicial</dc:title>
</cp:coreProperties>
</file>